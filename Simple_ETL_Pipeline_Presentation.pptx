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TL / ELT Pipeline Basics" id="{7BD8D347-1FF5-44AF-92BF-55C587DCA636}">
          <p14:sldIdLst>
            <p14:sldId id="2561"/>
          </p14:sldIdLst>
        </p14:section>
        <p14:section name="ETL / ELT Pipeline Basics" id="{FB581EF0-18CA-44A9-BD43-F220BAFBF829}">
          <p14:sldIdLst>
            <p14:sldId id="2562"/>
            <p14:sldId id="2563"/>
            <p14:sldId id="2564"/>
            <p14:sldId id="2565"/>
            <p14:sldId id="2566"/>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A5F6F3-8841-404A-B004-E86DD12F0F50}"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D03AAF58-3E5F-4734-995E-326D84FD0DF2}">
      <dgm:prSet/>
      <dgm:spPr/>
      <dgm:t>
        <a:bodyPr/>
        <a:lstStyle/>
        <a:p>
          <a:pPr>
            <a:lnSpc>
              <a:spcPct val="100000"/>
            </a:lnSpc>
            <a:defRPr b="1"/>
          </a:pPr>
          <a:r>
            <a:rPr lang="en-US"/>
            <a:t>Structured Logging</a:t>
          </a:r>
        </a:p>
      </dgm:t>
    </dgm:pt>
    <dgm:pt modelId="{E1C76C25-0F19-41C8-AA9D-715AC9E9A008}" type="parTrans" cxnId="{4C746509-0197-4B54-A43D-88F4D4C4DA55}">
      <dgm:prSet/>
      <dgm:spPr/>
      <dgm:t>
        <a:bodyPr/>
        <a:lstStyle/>
        <a:p>
          <a:endParaRPr lang="en-US"/>
        </a:p>
      </dgm:t>
    </dgm:pt>
    <dgm:pt modelId="{34C33486-B8AD-48BE-AE71-B5482C4E8366}" type="sibTrans" cxnId="{4C746509-0197-4B54-A43D-88F4D4C4DA55}">
      <dgm:prSet/>
      <dgm:spPr/>
      <dgm:t>
        <a:bodyPr/>
        <a:lstStyle/>
        <a:p>
          <a:pPr>
            <a:lnSpc>
              <a:spcPct val="100000"/>
            </a:lnSpc>
            <a:defRPr b="1"/>
          </a:pPr>
          <a:endParaRPr lang="en-US"/>
        </a:p>
      </dgm:t>
    </dgm:pt>
    <dgm:pt modelId="{72E14EEE-0E4B-4501-B78E-70D3134E1398}">
      <dgm:prSet/>
      <dgm:spPr/>
      <dgm:t>
        <a:bodyPr/>
        <a:lstStyle/>
        <a:p>
          <a:pPr>
            <a:lnSpc>
              <a:spcPct val="100000"/>
            </a:lnSpc>
          </a:pPr>
          <a:r>
            <a:rPr lang="en-US"/>
            <a:t>Structured logging records key events to help engineers understand pipeline workflow steps clearly.</a:t>
          </a:r>
        </a:p>
      </dgm:t>
    </dgm:pt>
    <dgm:pt modelId="{F9C2FE9E-F702-4AE9-BDB3-8BA156E465CB}" type="parTrans" cxnId="{06495DD9-7553-4EF0-96BE-002AEA2C3E94}">
      <dgm:prSet/>
      <dgm:spPr/>
      <dgm:t>
        <a:bodyPr/>
        <a:lstStyle/>
        <a:p>
          <a:endParaRPr lang="en-US"/>
        </a:p>
      </dgm:t>
    </dgm:pt>
    <dgm:pt modelId="{BB396E4A-14E3-40B1-BEFB-5C8973624B50}" type="sibTrans" cxnId="{06495DD9-7553-4EF0-96BE-002AEA2C3E94}">
      <dgm:prSet/>
      <dgm:spPr/>
      <dgm:t>
        <a:bodyPr/>
        <a:lstStyle/>
        <a:p>
          <a:endParaRPr lang="en-US"/>
        </a:p>
      </dgm:t>
    </dgm:pt>
    <dgm:pt modelId="{24C0D39A-F395-4D0C-9661-28D2028C2B73}">
      <dgm:prSet/>
      <dgm:spPr/>
      <dgm:t>
        <a:bodyPr/>
        <a:lstStyle/>
        <a:p>
          <a:pPr>
            <a:lnSpc>
              <a:spcPct val="100000"/>
            </a:lnSpc>
            <a:defRPr b="1"/>
          </a:pPr>
          <a:r>
            <a:rPr lang="en-US"/>
            <a:t>Performance Monitoring</a:t>
          </a:r>
        </a:p>
      </dgm:t>
    </dgm:pt>
    <dgm:pt modelId="{F0B6477E-8834-421A-8DEE-9EEB80454E02}" type="parTrans" cxnId="{1412B9C3-825D-4BB3-816E-8F4D5E6FC3DC}">
      <dgm:prSet/>
      <dgm:spPr/>
      <dgm:t>
        <a:bodyPr/>
        <a:lstStyle/>
        <a:p>
          <a:endParaRPr lang="en-US"/>
        </a:p>
      </dgm:t>
    </dgm:pt>
    <dgm:pt modelId="{D9FE4963-CF22-4589-8B60-776DE15A794F}" type="sibTrans" cxnId="{1412B9C3-825D-4BB3-816E-8F4D5E6FC3DC}">
      <dgm:prSet/>
      <dgm:spPr/>
      <dgm:t>
        <a:bodyPr/>
        <a:lstStyle/>
        <a:p>
          <a:pPr>
            <a:lnSpc>
              <a:spcPct val="100000"/>
            </a:lnSpc>
            <a:defRPr b="1"/>
          </a:pPr>
          <a:endParaRPr lang="en-US"/>
        </a:p>
      </dgm:t>
    </dgm:pt>
    <dgm:pt modelId="{5BBBBE47-5F29-4A38-99AA-BFA320DB0B01}">
      <dgm:prSet/>
      <dgm:spPr/>
      <dgm:t>
        <a:bodyPr/>
        <a:lstStyle/>
        <a:p>
          <a:pPr>
            <a:lnSpc>
              <a:spcPct val="100000"/>
            </a:lnSpc>
          </a:pPr>
          <a:r>
            <a:rPr lang="en-US"/>
            <a:t>Monitoring tools track pipeline performance, detect failures, and raise alerts for quick issue resolution.</a:t>
          </a:r>
        </a:p>
      </dgm:t>
    </dgm:pt>
    <dgm:pt modelId="{C0F9FB52-B050-41D6-95E1-FBD1E003851E}" type="parTrans" cxnId="{A6A796A4-FF81-4A0F-87FF-33F5D577C97E}">
      <dgm:prSet/>
      <dgm:spPr/>
      <dgm:t>
        <a:bodyPr/>
        <a:lstStyle/>
        <a:p>
          <a:endParaRPr lang="en-US"/>
        </a:p>
      </dgm:t>
    </dgm:pt>
    <dgm:pt modelId="{CFC62806-6D7A-4EF0-B5D4-0E5D99593CD5}" type="sibTrans" cxnId="{A6A796A4-FF81-4A0F-87FF-33F5D577C97E}">
      <dgm:prSet/>
      <dgm:spPr/>
      <dgm:t>
        <a:bodyPr/>
        <a:lstStyle/>
        <a:p>
          <a:endParaRPr lang="en-US"/>
        </a:p>
      </dgm:t>
    </dgm:pt>
    <dgm:pt modelId="{05719796-080C-402D-BE2B-384DE0E3B869}">
      <dgm:prSet/>
      <dgm:spPr/>
      <dgm:t>
        <a:bodyPr/>
        <a:lstStyle/>
        <a:p>
          <a:pPr>
            <a:lnSpc>
              <a:spcPct val="100000"/>
            </a:lnSpc>
            <a:defRPr b="1"/>
          </a:pPr>
          <a:r>
            <a:rPr lang="en-US"/>
            <a:t>Effective Error Handling</a:t>
          </a:r>
        </a:p>
      </dgm:t>
    </dgm:pt>
    <dgm:pt modelId="{6944DF16-C54E-4B19-864E-219443859D7D}" type="parTrans" cxnId="{088CD58D-3884-429E-B4EA-55FB711E14CC}">
      <dgm:prSet/>
      <dgm:spPr/>
      <dgm:t>
        <a:bodyPr/>
        <a:lstStyle/>
        <a:p>
          <a:endParaRPr lang="en-US"/>
        </a:p>
      </dgm:t>
    </dgm:pt>
    <dgm:pt modelId="{41E054CA-6CA7-4719-AF6D-2A149E0A6EE9}" type="sibTrans" cxnId="{088CD58D-3884-429E-B4EA-55FB711E14CC}">
      <dgm:prSet/>
      <dgm:spPr/>
      <dgm:t>
        <a:bodyPr/>
        <a:lstStyle/>
        <a:p>
          <a:endParaRPr lang="en-US"/>
        </a:p>
      </dgm:t>
    </dgm:pt>
    <dgm:pt modelId="{CE541E54-03BB-4DB0-9B25-425935A7E7C8}">
      <dgm:prSet/>
      <dgm:spPr/>
      <dgm:t>
        <a:bodyPr/>
        <a:lstStyle/>
        <a:p>
          <a:pPr>
            <a:lnSpc>
              <a:spcPct val="100000"/>
            </a:lnSpc>
          </a:pPr>
          <a:r>
            <a:rPr lang="en-US"/>
            <a:t>Error handling ensures graceful recovery by catching issues early and using retries to prevent failure.</a:t>
          </a:r>
        </a:p>
      </dgm:t>
    </dgm:pt>
    <dgm:pt modelId="{EDFAAB77-DC45-4DBC-9A13-BBC9D88C7A6A}" type="parTrans" cxnId="{49DDA7A3-438F-4DE6-876F-E28D87C03274}">
      <dgm:prSet/>
      <dgm:spPr/>
      <dgm:t>
        <a:bodyPr/>
        <a:lstStyle/>
        <a:p>
          <a:endParaRPr lang="en-US"/>
        </a:p>
      </dgm:t>
    </dgm:pt>
    <dgm:pt modelId="{8EAB7FE5-66CF-4ABC-AF45-B51F440CEAAE}" type="sibTrans" cxnId="{49DDA7A3-438F-4DE6-876F-E28D87C03274}">
      <dgm:prSet/>
      <dgm:spPr/>
      <dgm:t>
        <a:bodyPr/>
        <a:lstStyle/>
        <a:p>
          <a:endParaRPr lang="en-US"/>
        </a:p>
      </dgm:t>
    </dgm:pt>
    <dgm:pt modelId="{5F17F0BD-FF5B-4E25-9678-555E0B705A95}" type="pres">
      <dgm:prSet presAssocID="{A5A5F6F3-8841-404A-B004-E86DD12F0F50}" presName="Root" presStyleCnt="0">
        <dgm:presLayoutVars>
          <dgm:dir/>
          <dgm:resizeHandles val="exact"/>
        </dgm:presLayoutVars>
      </dgm:prSet>
      <dgm:spPr/>
    </dgm:pt>
    <dgm:pt modelId="{6966B956-2330-42C6-BA58-E9E2DD875959}" type="pres">
      <dgm:prSet presAssocID="{D03AAF58-3E5F-4734-995E-326D84FD0DF2}" presName="Composite" presStyleCnt="0"/>
      <dgm:spPr/>
    </dgm:pt>
    <dgm:pt modelId="{C1605DF9-48E2-4B74-BAAF-A9CB0FC5D544}" type="pres">
      <dgm:prSet presAssocID="{D03AAF58-3E5F-4734-995E-326D84FD0DF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0128" r="14879" b="9"/>
          <a:stretch/>
        </a:blipFill>
      </dgm:spPr>
      <dgm:extLst>
        <a:ext uri="{E40237B7-FDA0-4F09-8148-C483321AD2D9}">
          <dgm14:cNvPr xmlns:dgm14="http://schemas.microsoft.com/office/drawing/2010/diagram" id="0" name="" descr="Download or upload files concept"/>
        </a:ext>
      </dgm:extLst>
    </dgm:pt>
    <dgm:pt modelId="{036CBDBF-B42B-4505-BDBA-10823B5A729A}" type="pres">
      <dgm:prSet presAssocID="{D03AAF58-3E5F-4734-995E-326D84FD0DF2}" presName="Subtitle" presStyleLbl="revTx" presStyleIdx="0" presStyleCnt="6">
        <dgm:presLayoutVars>
          <dgm:chMax val="0"/>
          <dgm:bulletEnabled/>
        </dgm:presLayoutVars>
      </dgm:prSet>
      <dgm:spPr/>
    </dgm:pt>
    <dgm:pt modelId="{3C0FF433-5061-44DE-92CB-C3B54842FACF}" type="pres">
      <dgm:prSet presAssocID="{D03AAF58-3E5F-4734-995E-326D84FD0DF2}" presName="Description" presStyleLbl="revTx" presStyleIdx="1" presStyleCnt="6">
        <dgm:presLayoutVars>
          <dgm:bulletEnabled/>
        </dgm:presLayoutVars>
      </dgm:prSet>
      <dgm:spPr/>
    </dgm:pt>
    <dgm:pt modelId="{3BBCEED0-B071-46D9-B1D9-EBB59D038E2B}" type="pres">
      <dgm:prSet presAssocID="{34C33486-B8AD-48BE-AE71-B5482C4E8366}" presName="sibTrans" presStyleLbl="sibTrans2D1" presStyleIdx="0" presStyleCnt="0"/>
      <dgm:spPr/>
    </dgm:pt>
    <dgm:pt modelId="{3884D908-E480-4F66-8973-B5A58C3CA822}" type="pres">
      <dgm:prSet presAssocID="{24C0D39A-F395-4D0C-9661-28D2028C2B73}" presName="Composite" presStyleCnt="0"/>
      <dgm:spPr/>
    </dgm:pt>
    <dgm:pt modelId="{38F2E162-A2D1-4B09-990F-859EF46F1718}" type="pres">
      <dgm:prSet presAssocID="{24C0D39A-F395-4D0C-9661-28D2028C2B7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2389" r="861" b="1"/>
          <a:stretch/>
        </a:blipFill>
      </dgm:spPr>
      <dgm:extLst>
        <a:ext uri="{E40237B7-FDA0-4F09-8148-C483321AD2D9}">
          <dgm14:cNvPr xmlns:dgm14="http://schemas.microsoft.com/office/drawing/2010/diagram" id="0" name="" descr="Close-up shot of young woman using online investment app on smartphone in a cafe"/>
        </a:ext>
      </dgm:extLst>
    </dgm:pt>
    <dgm:pt modelId="{0A161167-B693-4989-8B15-C4B2610F6016}" type="pres">
      <dgm:prSet presAssocID="{24C0D39A-F395-4D0C-9661-28D2028C2B73}" presName="Subtitle" presStyleLbl="revTx" presStyleIdx="2" presStyleCnt="6">
        <dgm:presLayoutVars>
          <dgm:chMax val="0"/>
          <dgm:bulletEnabled/>
        </dgm:presLayoutVars>
      </dgm:prSet>
      <dgm:spPr/>
    </dgm:pt>
    <dgm:pt modelId="{77D2EFCD-B6C3-4077-B6A1-D0A2046AE2EF}" type="pres">
      <dgm:prSet presAssocID="{24C0D39A-F395-4D0C-9661-28D2028C2B73}" presName="Description" presStyleLbl="revTx" presStyleIdx="3" presStyleCnt="6">
        <dgm:presLayoutVars>
          <dgm:bulletEnabled/>
        </dgm:presLayoutVars>
      </dgm:prSet>
      <dgm:spPr/>
    </dgm:pt>
    <dgm:pt modelId="{8F3365E2-71E8-46C2-9FBC-D877290A9032}" type="pres">
      <dgm:prSet presAssocID="{D9FE4963-CF22-4589-8B60-776DE15A794F}" presName="sibTrans" presStyleLbl="sibTrans2D1" presStyleIdx="0" presStyleCnt="0"/>
      <dgm:spPr/>
    </dgm:pt>
    <dgm:pt modelId="{4EA985A3-7BDE-4063-BC51-CAB1BF27C4E1}" type="pres">
      <dgm:prSet presAssocID="{05719796-080C-402D-BE2B-384DE0E3B869}" presName="Composite" presStyleCnt="0"/>
      <dgm:spPr/>
    </dgm:pt>
    <dgm:pt modelId="{AE29A345-3646-4DEF-BE1A-68A1F4B96F42}" type="pres">
      <dgm:prSet presAssocID="{05719796-080C-402D-BE2B-384DE0E3B86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7016" r="6486" b="2"/>
          <a:stretch/>
        </a:blipFill>
      </dgm:spPr>
      <dgm:extLst>
        <a:ext uri="{E40237B7-FDA0-4F09-8148-C483321AD2D9}">
          <dgm14:cNvPr xmlns:dgm14="http://schemas.microsoft.com/office/drawing/2010/diagram" id="0" name="" descr="Growth and Development"/>
        </a:ext>
      </dgm:extLst>
    </dgm:pt>
    <dgm:pt modelId="{483BC9A0-A707-4F8A-A7B2-5281E5A39CF5}" type="pres">
      <dgm:prSet presAssocID="{05719796-080C-402D-BE2B-384DE0E3B869}" presName="Subtitle" presStyleLbl="revTx" presStyleIdx="4" presStyleCnt="6">
        <dgm:presLayoutVars>
          <dgm:chMax val="0"/>
          <dgm:bulletEnabled/>
        </dgm:presLayoutVars>
      </dgm:prSet>
      <dgm:spPr/>
    </dgm:pt>
    <dgm:pt modelId="{128662D3-73AF-477A-82F5-5D8864BD197D}" type="pres">
      <dgm:prSet presAssocID="{05719796-080C-402D-BE2B-384DE0E3B869}" presName="Description" presStyleLbl="revTx" presStyleIdx="5" presStyleCnt="6">
        <dgm:presLayoutVars>
          <dgm:bulletEnabled/>
        </dgm:presLayoutVars>
      </dgm:prSet>
      <dgm:spPr/>
    </dgm:pt>
  </dgm:ptLst>
  <dgm:cxnLst>
    <dgm:cxn modelId="{4C746509-0197-4B54-A43D-88F4D4C4DA55}" srcId="{A5A5F6F3-8841-404A-B004-E86DD12F0F50}" destId="{D03AAF58-3E5F-4734-995E-326D84FD0DF2}" srcOrd="0" destOrd="0" parTransId="{E1C76C25-0F19-41C8-AA9D-715AC9E9A008}" sibTransId="{34C33486-B8AD-48BE-AE71-B5482C4E8366}"/>
    <dgm:cxn modelId="{2841841F-72E1-4D18-8DE0-530D72D059E1}" type="presOf" srcId="{05719796-080C-402D-BE2B-384DE0E3B869}" destId="{483BC9A0-A707-4F8A-A7B2-5281E5A39CF5}" srcOrd="0" destOrd="0" presId="urn:microsoft.com/office/officeart/2024/3/layout/verticalVisualTextBlock1"/>
    <dgm:cxn modelId="{1E1A2C34-9C88-4B79-AF80-7E892EA313BA}" type="presOf" srcId="{D9FE4963-CF22-4589-8B60-776DE15A794F}" destId="{8F3365E2-71E8-46C2-9FBC-D877290A9032}" srcOrd="0" destOrd="0" presId="urn:microsoft.com/office/officeart/2024/3/layout/verticalVisualTextBlock1"/>
    <dgm:cxn modelId="{1FC86642-B2D0-4564-88F0-F01A0A71A6E2}" type="presOf" srcId="{CE541E54-03BB-4DB0-9B25-425935A7E7C8}" destId="{128662D3-73AF-477A-82F5-5D8864BD197D}" srcOrd="0" destOrd="0" presId="urn:microsoft.com/office/officeart/2024/3/layout/verticalVisualTextBlock1"/>
    <dgm:cxn modelId="{2B5CF46A-68DF-4C58-9FE9-5E47D24A5608}" type="presOf" srcId="{5BBBBE47-5F29-4A38-99AA-BFA320DB0B01}" destId="{77D2EFCD-B6C3-4077-B6A1-D0A2046AE2EF}" srcOrd="0" destOrd="0" presId="urn:microsoft.com/office/officeart/2024/3/layout/verticalVisualTextBlock1"/>
    <dgm:cxn modelId="{0618587B-CB7F-4B57-82E0-81ED448AA81F}" type="presOf" srcId="{24C0D39A-F395-4D0C-9661-28D2028C2B73}" destId="{0A161167-B693-4989-8B15-C4B2610F6016}" srcOrd="0" destOrd="0" presId="urn:microsoft.com/office/officeart/2024/3/layout/verticalVisualTextBlock1"/>
    <dgm:cxn modelId="{088CD58D-3884-429E-B4EA-55FB711E14CC}" srcId="{A5A5F6F3-8841-404A-B004-E86DD12F0F50}" destId="{05719796-080C-402D-BE2B-384DE0E3B869}" srcOrd="2" destOrd="0" parTransId="{6944DF16-C54E-4B19-864E-219443859D7D}" sibTransId="{41E054CA-6CA7-4719-AF6D-2A149E0A6EE9}"/>
    <dgm:cxn modelId="{CB70AE9A-DF45-4B8E-913F-42F025605AB9}" type="presOf" srcId="{72E14EEE-0E4B-4501-B78E-70D3134E1398}" destId="{3C0FF433-5061-44DE-92CB-C3B54842FACF}" srcOrd="0" destOrd="0" presId="urn:microsoft.com/office/officeart/2024/3/layout/verticalVisualTextBlock1"/>
    <dgm:cxn modelId="{F1E154A3-8F9F-48DD-AB98-898755FCDC4A}" type="presOf" srcId="{D03AAF58-3E5F-4734-995E-326D84FD0DF2}" destId="{036CBDBF-B42B-4505-BDBA-10823B5A729A}" srcOrd="0" destOrd="0" presId="urn:microsoft.com/office/officeart/2024/3/layout/verticalVisualTextBlock1"/>
    <dgm:cxn modelId="{49DDA7A3-438F-4DE6-876F-E28D87C03274}" srcId="{05719796-080C-402D-BE2B-384DE0E3B869}" destId="{CE541E54-03BB-4DB0-9B25-425935A7E7C8}" srcOrd="0" destOrd="0" parTransId="{EDFAAB77-DC45-4DBC-9A13-BBC9D88C7A6A}" sibTransId="{8EAB7FE5-66CF-4ABC-AF45-B51F440CEAAE}"/>
    <dgm:cxn modelId="{A6A796A4-FF81-4A0F-87FF-33F5D577C97E}" srcId="{24C0D39A-F395-4D0C-9661-28D2028C2B73}" destId="{5BBBBE47-5F29-4A38-99AA-BFA320DB0B01}" srcOrd="0" destOrd="0" parTransId="{C0F9FB52-B050-41D6-95E1-FBD1E003851E}" sibTransId="{CFC62806-6D7A-4EF0-B5D4-0E5D99593CD5}"/>
    <dgm:cxn modelId="{1412B9C3-825D-4BB3-816E-8F4D5E6FC3DC}" srcId="{A5A5F6F3-8841-404A-B004-E86DD12F0F50}" destId="{24C0D39A-F395-4D0C-9661-28D2028C2B73}" srcOrd="1" destOrd="0" parTransId="{F0B6477E-8834-421A-8DEE-9EEB80454E02}" sibTransId="{D9FE4963-CF22-4589-8B60-776DE15A794F}"/>
    <dgm:cxn modelId="{06495DD9-7553-4EF0-96BE-002AEA2C3E94}" srcId="{D03AAF58-3E5F-4734-995E-326D84FD0DF2}" destId="{72E14EEE-0E4B-4501-B78E-70D3134E1398}" srcOrd="0" destOrd="0" parTransId="{F9C2FE9E-F702-4AE9-BDB3-8BA156E465CB}" sibTransId="{BB396E4A-14E3-40B1-BEFB-5C8973624B50}"/>
    <dgm:cxn modelId="{B619CBF1-1C5F-4346-AEC0-D230DDB8ECA6}" type="presOf" srcId="{34C33486-B8AD-48BE-AE71-B5482C4E8366}" destId="{3BBCEED0-B071-46D9-B1D9-EBB59D038E2B}" srcOrd="0" destOrd="0" presId="urn:microsoft.com/office/officeart/2024/3/layout/verticalVisualTextBlock1"/>
    <dgm:cxn modelId="{A30B18F7-950E-44B5-9E1D-C3817E1282E2}" type="presOf" srcId="{A5A5F6F3-8841-404A-B004-E86DD12F0F50}" destId="{5F17F0BD-FF5B-4E25-9678-555E0B705A95}" srcOrd="0" destOrd="0" presId="urn:microsoft.com/office/officeart/2024/3/layout/verticalVisualTextBlock1"/>
    <dgm:cxn modelId="{419121BA-3DE1-4AA1-B752-570ECDA75BFD}" type="presParOf" srcId="{5F17F0BD-FF5B-4E25-9678-555E0B705A95}" destId="{6966B956-2330-42C6-BA58-E9E2DD875959}" srcOrd="0" destOrd="0" presId="urn:microsoft.com/office/officeart/2024/3/layout/verticalVisualTextBlock1"/>
    <dgm:cxn modelId="{B6BE98E1-9760-4C81-8ECA-AB8A9C2C8E6C}" type="presParOf" srcId="{6966B956-2330-42C6-BA58-E9E2DD875959}" destId="{C1605DF9-48E2-4B74-BAAF-A9CB0FC5D544}" srcOrd="0" destOrd="0" presId="urn:microsoft.com/office/officeart/2024/3/layout/verticalVisualTextBlock1"/>
    <dgm:cxn modelId="{26FE4877-421A-4812-A465-9D0F34D0A121}" type="presParOf" srcId="{6966B956-2330-42C6-BA58-E9E2DD875959}" destId="{036CBDBF-B42B-4505-BDBA-10823B5A729A}" srcOrd="1" destOrd="0" presId="urn:microsoft.com/office/officeart/2024/3/layout/verticalVisualTextBlock1"/>
    <dgm:cxn modelId="{A3927EFF-CB34-4DDE-886E-41E387F304C9}" type="presParOf" srcId="{6966B956-2330-42C6-BA58-E9E2DD875959}" destId="{3C0FF433-5061-44DE-92CB-C3B54842FACF}" srcOrd="2" destOrd="0" presId="urn:microsoft.com/office/officeart/2024/3/layout/verticalVisualTextBlock1"/>
    <dgm:cxn modelId="{B263CCEF-4CAF-49E4-89B5-6D531DEF9C17}" type="presParOf" srcId="{5F17F0BD-FF5B-4E25-9678-555E0B705A95}" destId="{3BBCEED0-B071-46D9-B1D9-EBB59D038E2B}" srcOrd="1" destOrd="0" presId="urn:microsoft.com/office/officeart/2024/3/layout/verticalVisualTextBlock1"/>
    <dgm:cxn modelId="{160785C3-2442-42FC-BAEE-6BA9489D1E63}" type="presParOf" srcId="{5F17F0BD-FF5B-4E25-9678-555E0B705A95}" destId="{3884D908-E480-4F66-8973-B5A58C3CA822}" srcOrd="2" destOrd="0" presId="urn:microsoft.com/office/officeart/2024/3/layout/verticalVisualTextBlock1"/>
    <dgm:cxn modelId="{4FDD2E62-974C-42F7-A946-C84902A830E9}" type="presParOf" srcId="{3884D908-E480-4F66-8973-B5A58C3CA822}" destId="{38F2E162-A2D1-4B09-990F-859EF46F1718}" srcOrd="0" destOrd="0" presId="urn:microsoft.com/office/officeart/2024/3/layout/verticalVisualTextBlock1"/>
    <dgm:cxn modelId="{3DD57895-5905-4E1A-82E6-E13407217D9D}" type="presParOf" srcId="{3884D908-E480-4F66-8973-B5A58C3CA822}" destId="{0A161167-B693-4989-8B15-C4B2610F6016}" srcOrd="1" destOrd="0" presId="urn:microsoft.com/office/officeart/2024/3/layout/verticalVisualTextBlock1"/>
    <dgm:cxn modelId="{D4F0C7BA-5B38-4686-8D75-59F5431EF646}" type="presParOf" srcId="{3884D908-E480-4F66-8973-B5A58C3CA822}" destId="{77D2EFCD-B6C3-4077-B6A1-D0A2046AE2EF}" srcOrd="2" destOrd="0" presId="urn:microsoft.com/office/officeart/2024/3/layout/verticalVisualTextBlock1"/>
    <dgm:cxn modelId="{5E4DD1F4-5D2E-4993-BBC1-0CAB65F39220}" type="presParOf" srcId="{5F17F0BD-FF5B-4E25-9678-555E0B705A95}" destId="{8F3365E2-71E8-46C2-9FBC-D877290A9032}" srcOrd="3" destOrd="0" presId="urn:microsoft.com/office/officeart/2024/3/layout/verticalVisualTextBlock1"/>
    <dgm:cxn modelId="{04F83C87-682B-471D-8290-318613E5D6FC}" type="presParOf" srcId="{5F17F0BD-FF5B-4E25-9678-555E0B705A95}" destId="{4EA985A3-7BDE-4063-BC51-CAB1BF27C4E1}" srcOrd="4" destOrd="0" presId="urn:microsoft.com/office/officeart/2024/3/layout/verticalVisualTextBlock1"/>
    <dgm:cxn modelId="{AF21B55F-B7E8-4EA5-9D0C-04BFEC2FF7F3}" type="presParOf" srcId="{4EA985A3-7BDE-4063-BC51-CAB1BF27C4E1}" destId="{AE29A345-3646-4DEF-BE1A-68A1F4B96F42}" srcOrd="0" destOrd="0" presId="urn:microsoft.com/office/officeart/2024/3/layout/verticalVisualTextBlock1"/>
    <dgm:cxn modelId="{82FE508C-A890-4EEA-B0D7-6597E4C44B41}" type="presParOf" srcId="{4EA985A3-7BDE-4063-BC51-CAB1BF27C4E1}" destId="{483BC9A0-A707-4F8A-A7B2-5281E5A39CF5}" srcOrd="1" destOrd="0" presId="urn:microsoft.com/office/officeart/2024/3/layout/verticalVisualTextBlock1"/>
    <dgm:cxn modelId="{0FE1DAD6-E0BE-412C-AE68-EA77C18DE108}" type="presParOf" srcId="{4EA985A3-7BDE-4063-BC51-CAB1BF27C4E1}" destId="{128662D3-73AF-477A-82F5-5D8864BD197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05DF9-48E2-4B74-BAAF-A9CB0FC5D544}">
      <dsp:nvSpPr>
        <dsp:cNvPr id="0" name=""/>
        <dsp:cNvSpPr/>
      </dsp:nvSpPr>
      <dsp:spPr>
        <a:xfrm>
          <a:off x="0" y="0"/>
          <a:ext cx="1556865" cy="155686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0128" r="14879" b="9"/>
          <a:stretch/>
        </a:blipFill>
        <a:ln>
          <a:noFill/>
        </a:ln>
        <a:effectLst/>
      </dsp:spPr>
      <dsp:style>
        <a:lnRef idx="0">
          <a:scrgbClr r="0" g="0" b="0"/>
        </a:lnRef>
        <a:fillRef idx="3">
          <a:scrgbClr r="0" g="0" b="0"/>
        </a:fillRef>
        <a:effectRef idx="2">
          <a:scrgbClr r="0" g="0" b="0"/>
        </a:effectRef>
        <a:fontRef idx="minor">
          <a:schemeClr val="lt1"/>
        </a:fontRef>
      </dsp:style>
    </dsp:sp>
    <dsp:sp modelId="{036CBDBF-B42B-4505-BDBA-10823B5A729A}">
      <dsp:nvSpPr>
        <dsp:cNvPr id="0" name=""/>
        <dsp:cNvSpPr/>
      </dsp:nvSpPr>
      <dsp:spPr>
        <a:xfrm>
          <a:off x="1736865" y="0"/>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Structured Logging</a:t>
          </a:r>
        </a:p>
      </dsp:txBody>
      <dsp:txXfrm>
        <a:off x="1736865" y="0"/>
        <a:ext cx="9586639" cy="385622"/>
      </dsp:txXfrm>
    </dsp:sp>
    <dsp:sp modelId="{3C0FF433-5061-44DE-92CB-C3B54842FACF}">
      <dsp:nvSpPr>
        <dsp:cNvPr id="0" name=""/>
        <dsp:cNvSpPr/>
      </dsp:nvSpPr>
      <dsp:spPr>
        <a:xfrm>
          <a:off x="1736865" y="385622"/>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Structured logging records key events to help engineers understand pipeline workflow steps clearly.</a:t>
          </a:r>
        </a:p>
      </dsp:txBody>
      <dsp:txXfrm>
        <a:off x="1736865" y="385622"/>
        <a:ext cx="9586639" cy="1171243"/>
      </dsp:txXfrm>
    </dsp:sp>
    <dsp:sp modelId="{38F2E162-A2D1-4B09-990F-859EF46F1718}">
      <dsp:nvSpPr>
        <dsp:cNvPr id="0" name=""/>
        <dsp:cNvSpPr/>
      </dsp:nvSpPr>
      <dsp:spPr>
        <a:xfrm>
          <a:off x="0" y="1681414"/>
          <a:ext cx="1556865" cy="155686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2389" r="861" b="1"/>
          <a:stretch/>
        </a:blipFill>
        <a:ln>
          <a:noFill/>
        </a:ln>
        <a:effectLst/>
      </dsp:spPr>
      <dsp:style>
        <a:lnRef idx="0">
          <a:scrgbClr r="0" g="0" b="0"/>
        </a:lnRef>
        <a:fillRef idx="3">
          <a:scrgbClr r="0" g="0" b="0"/>
        </a:fillRef>
        <a:effectRef idx="2">
          <a:scrgbClr r="0" g="0" b="0"/>
        </a:effectRef>
        <a:fontRef idx="minor">
          <a:schemeClr val="lt1"/>
        </a:fontRef>
      </dsp:style>
    </dsp:sp>
    <dsp:sp modelId="{0A161167-B693-4989-8B15-C4B2610F6016}">
      <dsp:nvSpPr>
        <dsp:cNvPr id="0" name=""/>
        <dsp:cNvSpPr/>
      </dsp:nvSpPr>
      <dsp:spPr>
        <a:xfrm>
          <a:off x="1736865" y="1681414"/>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Performance Monitoring</a:t>
          </a:r>
        </a:p>
      </dsp:txBody>
      <dsp:txXfrm>
        <a:off x="1736865" y="1681414"/>
        <a:ext cx="9586639" cy="385622"/>
      </dsp:txXfrm>
    </dsp:sp>
    <dsp:sp modelId="{77D2EFCD-B6C3-4077-B6A1-D0A2046AE2EF}">
      <dsp:nvSpPr>
        <dsp:cNvPr id="0" name=""/>
        <dsp:cNvSpPr/>
      </dsp:nvSpPr>
      <dsp:spPr>
        <a:xfrm>
          <a:off x="1736865" y="2067036"/>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Monitoring tools track pipeline performance, detect failures, and raise alerts for quick issue resolution.</a:t>
          </a:r>
        </a:p>
      </dsp:txBody>
      <dsp:txXfrm>
        <a:off x="1736865" y="2067036"/>
        <a:ext cx="9586639" cy="1171243"/>
      </dsp:txXfrm>
    </dsp:sp>
    <dsp:sp modelId="{AE29A345-3646-4DEF-BE1A-68A1F4B96F42}">
      <dsp:nvSpPr>
        <dsp:cNvPr id="0" name=""/>
        <dsp:cNvSpPr/>
      </dsp:nvSpPr>
      <dsp:spPr>
        <a:xfrm>
          <a:off x="0" y="3362828"/>
          <a:ext cx="1556865" cy="155686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7016" r="6486" b="2"/>
          <a:stretch/>
        </a:blipFill>
        <a:ln>
          <a:noFill/>
        </a:ln>
        <a:effectLst/>
      </dsp:spPr>
      <dsp:style>
        <a:lnRef idx="0">
          <a:scrgbClr r="0" g="0" b="0"/>
        </a:lnRef>
        <a:fillRef idx="3">
          <a:scrgbClr r="0" g="0" b="0"/>
        </a:fillRef>
        <a:effectRef idx="2">
          <a:scrgbClr r="0" g="0" b="0"/>
        </a:effectRef>
        <a:fontRef idx="minor">
          <a:schemeClr val="lt1"/>
        </a:fontRef>
      </dsp:style>
    </dsp:sp>
    <dsp:sp modelId="{483BC9A0-A707-4F8A-A7B2-5281E5A39CF5}">
      <dsp:nvSpPr>
        <dsp:cNvPr id="0" name=""/>
        <dsp:cNvSpPr/>
      </dsp:nvSpPr>
      <dsp:spPr>
        <a:xfrm>
          <a:off x="1736865" y="3362828"/>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Effective Error Handling</a:t>
          </a:r>
        </a:p>
      </dsp:txBody>
      <dsp:txXfrm>
        <a:off x="1736865" y="3362828"/>
        <a:ext cx="9586639" cy="385622"/>
      </dsp:txXfrm>
    </dsp:sp>
    <dsp:sp modelId="{128662D3-73AF-477A-82F5-5D8864BD197D}">
      <dsp:nvSpPr>
        <dsp:cNvPr id="0" name=""/>
        <dsp:cNvSpPr/>
      </dsp:nvSpPr>
      <dsp:spPr>
        <a:xfrm>
          <a:off x="1736865" y="3748451"/>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Error handling ensures graceful recovery by catching issues early and using retries to prevent failure.</a:t>
          </a:r>
        </a:p>
      </dsp:txBody>
      <dsp:txXfrm>
        <a:off x="1736865" y="3748451"/>
        <a:ext cx="9586639" cy="117124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6F391F-E592-4626-9913-6F2B0D7DD9AB}" type="datetimeFigureOut">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51079-1FB2-4586-93F0-42F181E8AA1E}" type="slidenum">
              <a:t>‹#›</a:t>
            </a:fld>
            <a:endParaRPr lang="en-US"/>
          </a:p>
        </p:txBody>
      </p:sp>
    </p:spTree>
    <p:extLst>
      <p:ext uri="{BB962C8B-B14F-4D97-AF65-F5344CB8AC3E}">
        <p14:creationId xmlns:p14="http://schemas.microsoft.com/office/powerpoint/2010/main" val="1991259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5BAB977-24E5-4F6A-A663-21D254829C0E}" type="slidenum">
              <a:t>1</a:t>
            </a:fld>
            <a:endParaRPr lang="en-US"/>
          </a:p>
        </p:txBody>
      </p:sp>
    </p:spTree>
    <p:extLst>
      <p:ext uri="{BB962C8B-B14F-4D97-AF65-F5344CB8AC3E}">
        <p14:creationId xmlns:p14="http://schemas.microsoft.com/office/powerpoint/2010/main" val="2434495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OOP for ETL / ELT Pipeline Design, Designing Reusable Pipeline Components, Pipeline-Oriented Folder Structures, Orchestration Concepts, Apache Airflow, Cloud Composer, Logging, Monitoring &amp; Error Handling</a:t>
            </a:r>
          </a:p>
        </p:txBody>
      </p:sp>
      <p:sp>
        <p:nvSpPr>
          <p:cNvPr id="4" name="Slide Number Placeholder 3"/>
          <p:cNvSpPr>
            <a:spLocks noGrp="1"/>
          </p:cNvSpPr>
          <p:nvPr>
            <p:ph type="sldNum" sz="quarter" idx="5"/>
          </p:nvPr>
        </p:nvSpPr>
        <p:spPr/>
        <p:txBody>
          <a:bodyPr/>
          <a:lstStyle/>
          <a:p>
            <a:fld id="{15BAB977-24E5-4F6A-A663-21D254829C0E}" type="slidenum">
              <a:t>2</a:t>
            </a:fld>
            <a:endParaRPr lang="en-US"/>
          </a:p>
        </p:txBody>
      </p:sp>
    </p:spTree>
    <p:extLst>
      <p:ext uri="{BB962C8B-B14F-4D97-AF65-F5344CB8AC3E}">
        <p14:creationId xmlns:p14="http://schemas.microsoft.com/office/powerpoint/2010/main" val="1967616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Object-Oriented Programming (OOP) helps make ETL and ELT pipelines easier to build, manage, and reuse. By using classes, developers can organize the steps of the pipeline clearly, making the system simple to extend or update. Encapsulation ensures that data and logic stay safely within each class, reducing confusion and errors. Inheritance allows developers to build new components from existing ones without rewriting code, which saves time and helps keep pipelines consistent. Polymorphism makes it possible to switch or replace components without changing the entire workflow, allowing teams to introduce new transformations or data sources with minimal updates. These OOP principles lead to cleaner, more modular, and maintainable data pipelines that can scale as business needs grow. They also help ensure that pipelines behave predictably and can be tested or debugged more effectively, making long-term maintenance easier for engineering teams.</a:t>
            </a:r>
          </a:p>
        </p:txBody>
      </p:sp>
      <p:sp>
        <p:nvSpPr>
          <p:cNvPr id="4" name="Slide Number Placeholder 3"/>
          <p:cNvSpPr>
            <a:spLocks noGrp="1"/>
          </p:cNvSpPr>
          <p:nvPr>
            <p:ph type="sldNum" sz="quarter" idx="5"/>
          </p:nvPr>
        </p:nvSpPr>
        <p:spPr/>
        <p:txBody>
          <a:bodyPr/>
          <a:lstStyle/>
          <a:p>
            <a:fld id="{15BAB977-24E5-4F6A-A663-21D254829C0E}" type="slidenum">
              <a:t>3</a:t>
            </a:fld>
            <a:endParaRPr lang="en-US"/>
          </a:p>
        </p:txBody>
      </p:sp>
    </p:spTree>
    <p:extLst>
      <p:ext uri="{BB962C8B-B14F-4D97-AF65-F5344CB8AC3E}">
        <p14:creationId xmlns:p14="http://schemas.microsoft.com/office/powerpoint/2010/main" val="1416596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Reusable components are essential for building efficient ETL and ELT pipelines. A reusable design means that extract, transform, and load functions are separated into different modules so that each part can be used in many different workflows. Using simple configuration files allows teams to adjust how a pipeline works without changing code, which reduces errors and speeds up development. When components are designed to be easy to replace or upgrade, teams can adjust to new requirements quickly, such as adding new data sources or applying additional validation rules. Reusable pieces also create consistency in how pipelines behave, which improves reliability and makes onboarding easier for new engineers. By designing components to be modular, predictable, and flexible, organizations can scale pipeline development and reduce long-term technical debt.</a:t>
            </a:r>
          </a:p>
        </p:txBody>
      </p:sp>
      <p:sp>
        <p:nvSpPr>
          <p:cNvPr id="4" name="Slide Number Placeholder 3"/>
          <p:cNvSpPr>
            <a:spLocks noGrp="1"/>
          </p:cNvSpPr>
          <p:nvPr>
            <p:ph type="sldNum" sz="quarter" idx="5"/>
          </p:nvPr>
        </p:nvSpPr>
        <p:spPr/>
        <p:txBody>
          <a:bodyPr/>
          <a:lstStyle/>
          <a:p>
            <a:fld id="{15BAB977-24E5-4F6A-A663-21D254829C0E}" type="slidenum">
              <a:t>4</a:t>
            </a:fld>
            <a:endParaRPr lang="en-US"/>
          </a:p>
        </p:txBody>
      </p:sp>
    </p:spTree>
    <p:extLst>
      <p:ext uri="{BB962C8B-B14F-4D97-AF65-F5344CB8AC3E}">
        <p14:creationId xmlns:p14="http://schemas.microsoft.com/office/powerpoint/2010/main" val="3450118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clear folder structure helps teams manage and maintain ETL and ELT pipelines more easily. Separating extract, transform, and load logic into dedicated folders ensures that developers know exactly where each part of the pipeline is located. Configuration files should be stored in their own folder so that environment-specific settings, such as development or production configurations, remain organized and easy to update. Logs also need their own dedicated folder to allow for proper tracking of system behavior and debugging. By maintaining a logical structure for orchestration scripts, teams ensure that workflow configuration stays separate from business logic. This approach reduces confusion, supports collaboration, and creates predictable patterns that scale across multiple pipelines. Clear organization also helps new team members quickly understand how the pipeline is built and where to find key components.</a:t>
            </a:r>
          </a:p>
        </p:txBody>
      </p:sp>
      <p:sp>
        <p:nvSpPr>
          <p:cNvPr id="4" name="Slide Number Placeholder 3"/>
          <p:cNvSpPr>
            <a:spLocks noGrp="1"/>
          </p:cNvSpPr>
          <p:nvPr>
            <p:ph type="sldNum" sz="quarter" idx="5"/>
          </p:nvPr>
        </p:nvSpPr>
        <p:spPr/>
        <p:txBody>
          <a:bodyPr/>
          <a:lstStyle/>
          <a:p>
            <a:fld id="{15BAB977-24E5-4F6A-A663-21D254829C0E}" type="slidenum">
              <a:t>5</a:t>
            </a:fld>
            <a:endParaRPr lang="en-US"/>
          </a:p>
        </p:txBody>
      </p:sp>
    </p:spTree>
    <p:extLst>
      <p:ext uri="{BB962C8B-B14F-4D97-AF65-F5344CB8AC3E}">
        <p14:creationId xmlns:p14="http://schemas.microsoft.com/office/powerpoint/2010/main" val="2032408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Orchestration is the process of controlling the execution of pipeline tasks in the correct order. It ensures that steps run when they should, based on dependencies and data availability. Defining tasks clearly helps prevent errors, and specifying how tasks depend on each other allows teams to coordinate complex workflows. Retry strategies are important for handling failures automatically, especially when dealing with external systems that may fail occasionally. Running tasks in parallel improves performance by allowing multiple steps to execute at the same time when dependencies permit. Orchestration makes pipelines more dependable, scalable, and predictable, ensuring that data is processed correctly and on time. It also allows teams to respond quickly when failures occur by automating recovery processes and providing visibility into workflow behavior.</a:t>
            </a:r>
          </a:p>
        </p:txBody>
      </p:sp>
      <p:sp>
        <p:nvSpPr>
          <p:cNvPr id="4" name="Slide Number Placeholder 3"/>
          <p:cNvSpPr>
            <a:spLocks noGrp="1"/>
          </p:cNvSpPr>
          <p:nvPr>
            <p:ph type="sldNum" sz="quarter" idx="5"/>
          </p:nvPr>
        </p:nvSpPr>
        <p:spPr/>
        <p:txBody>
          <a:bodyPr/>
          <a:lstStyle/>
          <a:p>
            <a:fld id="{15BAB977-24E5-4F6A-A663-21D254829C0E}" type="slidenum">
              <a:t>6</a:t>
            </a:fld>
            <a:endParaRPr lang="en-US"/>
          </a:p>
        </p:txBody>
      </p:sp>
    </p:spTree>
    <p:extLst>
      <p:ext uri="{BB962C8B-B14F-4D97-AF65-F5344CB8AC3E}">
        <p14:creationId xmlns:p14="http://schemas.microsoft.com/office/powerpoint/2010/main" val="765385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Apache Airflow is a powerful orchestration tool used to schedule and manage ETL and ELT pipelines. It uses Directed Acyclic Graphs (DAGs) to show the order in which tasks should run, which makes workflows easy to visualize and understand. Airflow comes with many built-in operators that allow teams to connect to different systems without writing a lot of custom code. It also includes sensors and hooks that help pipelines wait for events or connect to external services. Airflow’s web interface provides access to logs, task history, and current job status, making monitoring simple. Because of its modular design, teams can build flexible and reliable data workflows that scale as data needs grow. Airflow’s open‑source ecosystem also supports extensions and integrations that allow organizations to customize their orchestration environment.</a:t>
            </a:r>
          </a:p>
        </p:txBody>
      </p:sp>
      <p:sp>
        <p:nvSpPr>
          <p:cNvPr id="4" name="Slide Number Placeholder 3"/>
          <p:cNvSpPr>
            <a:spLocks noGrp="1"/>
          </p:cNvSpPr>
          <p:nvPr>
            <p:ph type="sldNum" sz="quarter" idx="5"/>
          </p:nvPr>
        </p:nvSpPr>
        <p:spPr/>
        <p:txBody>
          <a:bodyPr/>
          <a:lstStyle/>
          <a:p>
            <a:fld id="{15BAB977-24E5-4F6A-A663-21D254829C0E}" type="slidenum">
              <a:t>7</a:t>
            </a:fld>
            <a:endParaRPr lang="en-US"/>
          </a:p>
        </p:txBody>
      </p:sp>
    </p:spTree>
    <p:extLst>
      <p:ext uri="{BB962C8B-B14F-4D97-AF65-F5344CB8AC3E}">
        <p14:creationId xmlns:p14="http://schemas.microsoft.com/office/powerpoint/2010/main" val="2974506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Cloud Composer is Google Cloud’s fully managed version of Apache Airflow. It removes the need for teams to manage infrastructure by handling upgrades, scaling, and maintenance automatically. Composer integrates easily with other Google Cloud services such as BigQuery, Cloud Storage, and Pub/Sub, allowing pipelines to connect to different data systems without extra configuration. Autoscaling ensures that workloads are balanced effectively, improving performance when large pipelines need additional resources. With centralized logging and monitoring through Google Cloud tools, teams can track system behavior and troubleshoot issues more easily. Composer is ideal for organizations that want the power of Airflow without the complexity of managing servers, making it a reliable and scalable option for production-grade orchestration.</a:t>
            </a:r>
          </a:p>
        </p:txBody>
      </p:sp>
      <p:sp>
        <p:nvSpPr>
          <p:cNvPr id="4" name="Slide Number Placeholder 3"/>
          <p:cNvSpPr>
            <a:spLocks noGrp="1"/>
          </p:cNvSpPr>
          <p:nvPr>
            <p:ph type="sldNum" sz="quarter" idx="5"/>
          </p:nvPr>
        </p:nvSpPr>
        <p:spPr/>
        <p:txBody>
          <a:bodyPr/>
          <a:lstStyle/>
          <a:p>
            <a:fld id="{15BAB977-24E5-4F6A-A663-21D254829C0E}" type="slidenum">
              <a:t>8</a:t>
            </a:fld>
            <a:endParaRPr lang="en-US"/>
          </a:p>
        </p:txBody>
      </p:sp>
    </p:spTree>
    <p:extLst>
      <p:ext uri="{BB962C8B-B14F-4D97-AF65-F5344CB8AC3E}">
        <p14:creationId xmlns:p14="http://schemas.microsoft.com/office/powerpoint/2010/main" val="2983490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Logging, monitoring, and error handling are essential for maintaining healthy ETL and ELT pipelines. Structured logging helps record important events, making it easier for engineers to understand what happened during each step of the workflow. Monitoring tools track pipeline performance, detect failures, and raise alerts when something goes wrong, ensuring that issues are addressed quickly. Good error handling practices help pipelines recover gracefully by catching problems early and preventing full system failures. Using fallback steps or retries helps avoid interruptions and ensures that data keeps flowing even when unexpected issues occur. By investing in strong logging and monitoring practices, teams can improve visibility, reduce downtime, and maintain trust in their data systems.</a:t>
            </a:r>
          </a:p>
        </p:txBody>
      </p:sp>
      <p:sp>
        <p:nvSpPr>
          <p:cNvPr id="4" name="Slide Number Placeholder 3"/>
          <p:cNvSpPr>
            <a:spLocks noGrp="1"/>
          </p:cNvSpPr>
          <p:nvPr>
            <p:ph type="sldNum" sz="quarter" idx="5"/>
          </p:nvPr>
        </p:nvSpPr>
        <p:spPr/>
        <p:txBody>
          <a:bodyPr/>
          <a:lstStyle/>
          <a:p>
            <a:fld id="{15BAB977-24E5-4F6A-A663-21D254829C0E}" type="slidenum">
              <a:t>9</a:t>
            </a:fld>
            <a:endParaRPr lang="en-US"/>
          </a:p>
        </p:txBody>
      </p:sp>
    </p:spTree>
    <p:extLst>
      <p:ext uri="{BB962C8B-B14F-4D97-AF65-F5344CB8AC3E}">
        <p14:creationId xmlns:p14="http://schemas.microsoft.com/office/powerpoint/2010/main" val="1832006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2">
            <a:lumMod val="9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E57259E-EB49-83B2-A198-68B73458BDEB}"/>
              </a:ext>
            </a:extLst>
          </p:cNvPr>
          <p:cNvSpPr>
            <a:spLocks noGrp="1"/>
          </p:cNvSpPr>
          <p:nvPr>
            <p:ph type="ctrTitle"/>
          </p:nvPr>
        </p:nvSpPr>
        <p:spPr>
          <a:xfrm>
            <a:off x="7716623" y="1411358"/>
            <a:ext cx="3736010" cy="2845567"/>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20" name="Subtitle 2">
            <a:extLst>
              <a:ext uri="{FF2B5EF4-FFF2-40B4-BE49-F238E27FC236}">
                <a16:creationId xmlns:a16="http://schemas.microsoft.com/office/drawing/2014/main" id="{A132AEC4-FCF7-2D11-D3D9-B11462CDCF92}"/>
              </a:ext>
            </a:extLst>
          </p:cNvPr>
          <p:cNvSpPr>
            <a:spLocks noGrp="1"/>
          </p:cNvSpPr>
          <p:nvPr>
            <p:ph type="subTitle" idx="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a:lstStyle>
            <a:lvl1pPr>
              <a:defRPr>
                <a:solidFill>
                  <a:schemeClr val="tx1"/>
                </a:solidFill>
                <a:effectLst/>
              </a:defRPr>
            </a:lvl1pPr>
          </a:lstStyle>
          <a:p>
            <a:fld id="{49B045A2-93A3-0245-952F-F70516988491}"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8" name="Picture Placeholder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103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34991"/>
            <a:ext cx="11323505" cy="75565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53ED406-9BBB-8243-8F57-F2904DFCFBBC}"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6" y="1572050"/>
            <a:ext cx="11323505" cy="4920463"/>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295318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43799" y="634990"/>
            <a:ext cx="4244009" cy="4227952"/>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a:lstStyle>
            <a:lvl1pPr>
              <a:defRPr>
                <a:solidFill>
                  <a:schemeClr val="tx1"/>
                </a:solidFill>
                <a:effectLst/>
              </a:defRPr>
            </a:lvl1pPr>
          </a:lstStyle>
          <a:p>
            <a:fld id="{6B7F706A-D109-3944-B52B-877BA50BC7DE}"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5" name="Picture Placeholder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b="1">
                <a:effectLst/>
              </a:rPr>
              <a:t> </a:t>
            </a:r>
            <a:endParaRPr lang="en-US"/>
          </a:p>
        </p:txBody>
      </p:sp>
      <p:cxnSp>
        <p:nvCxnSpPr>
          <p:cNvPr id="8" name="Straight Connector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3139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8AEEAA7-1FB1-66FD-6698-0A692D3A2B96}"/>
              </a:ext>
            </a:extLst>
          </p:cNvPr>
          <p:cNvSpPr>
            <a:spLocks noGrp="1"/>
          </p:cNvSpPr>
          <p:nvPr>
            <p:ph type="title"/>
          </p:nvPr>
        </p:nvSpPr>
        <p:spPr>
          <a:xfrm>
            <a:off x="598327" y="5096040"/>
            <a:ext cx="10963656" cy="755659"/>
          </a:xfrm>
        </p:spPr>
        <p:txBody>
          <a:bodyPr anchor="b"/>
          <a:lstStyle/>
          <a:p>
            <a:r>
              <a:rPr lang="en-US"/>
              <a:t>Click to edit Master title style</a:t>
            </a:r>
          </a:p>
        </p:txBody>
      </p:sp>
      <p:sp>
        <p:nvSpPr>
          <p:cNvPr id="12" name="Subtitle 2">
            <a:extLst>
              <a:ext uri="{FF2B5EF4-FFF2-40B4-BE49-F238E27FC236}">
                <a16:creationId xmlns:a16="http://schemas.microsoft.com/office/drawing/2014/main" id="{F12A78E0-F03D-DA65-CE03-3BF1B174A306}"/>
              </a:ext>
            </a:extLst>
          </p:cNvPr>
          <p:cNvSpPr>
            <a:spLocks noGrp="1"/>
          </p:cNvSpPr>
          <p:nvPr>
            <p:ph type="subTitle" idx="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943BE1-14A2-AD48-96B1-88BA0DE8B86C}" type="datetime1">
              <a:rPr lang="en-US" smtClean="0"/>
              <a:t>2/13/2026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spTree>
    <p:extLst>
      <p:ext uri="{BB962C8B-B14F-4D97-AF65-F5344CB8AC3E}">
        <p14:creationId xmlns:p14="http://schemas.microsoft.com/office/powerpoint/2010/main" val="12378523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bg2">
            <a:lumMod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12441-B03B-71E2-9A2F-F3AF112B2CB1}"/>
              </a:ext>
            </a:extLst>
          </p:cNvPr>
          <p:cNvSpPr>
            <a:spLocks noGrp="1"/>
          </p:cNvSpPr>
          <p:nvPr>
            <p:ph type="ctrTitle"/>
          </p:nvPr>
        </p:nvSpPr>
        <p:spPr>
          <a:xfrm>
            <a:off x="612648" y="1373807"/>
            <a:ext cx="3892269" cy="3331896"/>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6" name="Subtitle 2">
            <a:extLst>
              <a:ext uri="{FF2B5EF4-FFF2-40B4-BE49-F238E27FC236}">
                <a16:creationId xmlns:a16="http://schemas.microsoft.com/office/drawing/2014/main" id="{61F41BB3-E8DA-23DD-7C7E-6AEEA88BD674}"/>
              </a:ext>
            </a:extLst>
          </p:cNvPr>
          <p:cNvSpPr>
            <a:spLocks noGrp="1"/>
          </p:cNvSpPr>
          <p:nvPr>
            <p:ph type="subTitle" idx="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6DB9EC1-C4C2-B548-AAAE-47A4C38F1382}" type="datetime1">
              <a:rPr lang="en-US" smtClean="0"/>
              <a:t>2/13/2026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4727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BFAA997-E292-EBAB-2E9D-3845D76D6263}"/>
              </a:ext>
            </a:extLst>
          </p:cNvPr>
          <p:cNvSpPr>
            <a:spLocks noGrp="1"/>
          </p:cNvSpPr>
          <p:nvPr>
            <p:ph type="ctrTitle"/>
          </p:nvPr>
        </p:nvSpPr>
        <p:spPr>
          <a:xfrm>
            <a:off x="612648" y="353804"/>
            <a:ext cx="9598152" cy="4099340"/>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12" name="Subtitle 2">
            <a:extLst>
              <a:ext uri="{FF2B5EF4-FFF2-40B4-BE49-F238E27FC236}">
                <a16:creationId xmlns:a16="http://schemas.microsoft.com/office/drawing/2014/main" id="{2CE2F65D-E74D-73DE-8713-5AD69E7CEEB1}"/>
              </a:ext>
            </a:extLst>
          </p:cNvPr>
          <p:cNvSpPr>
            <a:spLocks noGrp="1"/>
          </p:cNvSpPr>
          <p:nvPr>
            <p:ph type="subTitle" idx="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E98C5E6-9287-6A44-A9ED-68C630E53090}"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35927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2">
            <a:lumMod val="9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3784593-B08F-6412-D575-67F684C5A929}"/>
              </a:ext>
            </a:extLst>
          </p:cNvPr>
          <p:cNvSpPr>
            <a:spLocks noGrp="1"/>
          </p:cNvSpPr>
          <p:nvPr>
            <p:ph type="ctrTitle"/>
          </p:nvPr>
        </p:nvSpPr>
        <p:spPr>
          <a:xfrm>
            <a:off x="598578" y="2018460"/>
            <a:ext cx="9140954" cy="3236439"/>
          </a:xfrm>
        </p:spPr>
        <p:txBody>
          <a:bodyPr vert="horz" lIns="91440" tIns="45720" rIns="91440" bIns="45720" rtlCol="0" anchor="b">
            <a:noAutofit/>
          </a:bodyPr>
          <a:lstStyle>
            <a:lvl1pPr>
              <a:defRPr lang="en-US" sz="6000" dirty="0"/>
            </a:lvl1pPr>
          </a:lstStyle>
          <a:p>
            <a:pPr lvl="0"/>
            <a:r>
              <a:rPr lang="en-US"/>
              <a:t>Click to edit Master title style</a:t>
            </a:r>
          </a:p>
        </p:txBody>
      </p:sp>
      <p:sp>
        <p:nvSpPr>
          <p:cNvPr id="10" name="Subtitle 2">
            <a:extLst>
              <a:ext uri="{FF2B5EF4-FFF2-40B4-BE49-F238E27FC236}">
                <a16:creationId xmlns:a16="http://schemas.microsoft.com/office/drawing/2014/main" id="{4192A629-1C7A-908C-99B6-E95B0C98017A}"/>
              </a:ext>
            </a:extLst>
          </p:cNvPr>
          <p:cNvSpPr>
            <a:spLocks noGrp="1"/>
          </p:cNvSpPr>
          <p:nvPr>
            <p:ph type="subTitle" idx="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AF22403-57C6-1844-A1CE-EC8B0C9F71DA}"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1872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10FCED8-73AC-58D6-B68F-AAFD305C6675}"/>
              </a:ext>
            </a:extLst>
          </p:cNvPr>
          <p:cNvSpPr>
            <a:spLocks noGrp="1"/>
          </p:cNvSpPr>
          <p:nvPr>
            <p:ph type="ctrTitle"/>
          </p:nvPr>
        </p:nvSpPr>
        <p:spPr>
          <a:xfrm>
            <a:off x="1981200" y="1560442"/>
            <a:ext cx="8229600" cy="2379013"/>
          </a:xfrm>
        </p:spPr>
        <p:txBody>
          <a:bodyPr anchor="b">
            <a:normAutofit/>
          </a:bodyPr>
          <a:lstStyle>
            <a:lvl1pPr algn="ctr">
              <a:defRPr sz="6000"/>
            </a:lvl1pPr>
          </a:lstStyle>
          <a:p>
            <a:r>
              <a:rPr lang="en-US"/>
              <a:t>Click to edit Master title style</a:t>
            </a:r>
          </a:p>
        </p:txBody>
      </p:sp>
      <p:sp>
        <p:nvSpPr>
          <p:cNvPr id="10" name="Subtitle 2">
            <a:extLst>
              <a:ext uri="{FF2B5EF4-FFF2-40B4-BE49-F238E27FC236}">
                <a16:creationId xmlns:a16="http://schemas.microsoft.com/office/drawing/2014/main" id="{D983008E-F782-B9DD-6537-0B9EAE9279E9}"/>
              </a:ext>
            </a:extLst>
          </p:cNvPr>
          <p:cNvSpPr>
            <a:spLocks noGrp="1"/>
          </p:cNvSpPr>
          <p:nvPr>
            <p:ph type="subTitle" idx="1"/>
          </p:nvPr>
        </p:nvSpPr>
        <p:spPr>
          <a:xfrm>
            <a:off x="2301923" y="4039648"/>
            <a:ext cx="7588155" cy="1029310"/>
          </a:xfrm>
          <a:prstGeom prst="rect">
            <a:avLst/>
          </a:prstGeo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EF67CE4-B6BA-0C48-874C-4DFD10A9B4AF}"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50381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E0ED0FC-24F7-C844-8E98-AE6A55D9AF57}" type="datetime1">
              <a:rPr lang="en-US" smtClean="0"/>
              <a:t>2/13/2026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9849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anchor="ctr">
            <a:normAutofit/>
          </a:bodyPr>
          <a:lstStyle>
            <a:lvl1pPr algn="ct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0B683C1-A69F-6246-93C5-635FEE862ABF}" type="datetime1">
              <a:rPr lang="en-US" smtClean="0"/>
              <a:t>2/13/2026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Content Placeholder 6">
            <a:extLst>
              <a:ext uri="{FF2B5EF4-FFF2-40B4-BE49-F238E27FC236}">
                <a16:creationId xmlns:a16="http://schemas.microsoft.com/office/drawing/2014/main" id="{731916B7-ECCD-C24F-03F1-DB5BB483E71F}"/>
              </a:ext>
            </a:extLst>
          </p:cNvPr>
          <p:cNvSpPr>
            <a:spLocks noGrp="1"/>
          </p:cNvSpPr>
          <p:nvPr>
            <p:ph sz="quarter" idx="13"/>
          </p:nvPr>
        </p:nvSpPr>
        <p:spPr>
          <a:xfrm>
            <a:off x="5725556" y="634989"/>
            <a:ext cx="5501871" cy="5568895"/>
          </a:xfrm>
          <a:prstGeom prst="rect">
            <a:avLst/>
          </a:prstGeom>
        </p:spPr>
        <p:txBody>
          <a:bodyPr anchor="ct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58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anchor="b">
            <a:normAutofit/>
          </a:bodyPr>
          <a:lstStyle>
            <a:lvl1pP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1E1C6775-CD52-A54C-A886-04159AE48FCC}" type="datetime1">
              <a:rPr lang="en-US" smtClean="0"/>
              <a:t>2/13/2026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6">
            <a:extLst>
              <a:ext uri="{FF2B5EF4-FFF2-40B4-BE49-F238E27FC236}">
                <a16:creationId xmlns:a16="http://schemas.microsoft.com/office/drawing/2014/main" id="{5CF91619-8B0D-4421-A55F-551E27448797}"/>
              </a:ext>
            </a:extLst>
          </p:cNvPr>
          <p:cNvSpPr>
            <a:spLocks noGrp="1"/>
          </p:cNvSpPr>
          <p:nvPr>
            <p:ph sz="quarter" idx="13"/>
          </p:nvPr>
        </p:nvSpPr>
        <p:spPr>
          <a:xfrm>
            <a:off x="5366301" y="2785844"/>
            <a:ext cx="5916507" cy="3436789"/>
          </a:xfrm>
          <a:prstGeom prst="rect">
            <a:avLst/>
          </a:prstGeo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254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790911" y="2133600"/>
            <a:ext cx="6623436" cy="1070776"/>
          </a:xfrm>
        </p:spPr>
        <p:txBody>
          <a:bodyPr anchor="b">
            <a:no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3768786" y="3335364"/>
            <a:ext cx="4659735" cy="1645198"/>
          </a:xfrm>
          <a:prstGeom prst="rect">
            <a:avLst/>
          </a:prstGeo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452866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A3D046-B01C-DBA5-51DF-DBED5201FE45}"/>
              </a:ext>
            </a:extLst>
          </p:cNvPr>
          <p:cNvSpPr>
            <a:spLocks noGrp="1"/>
          </p:cNvSpPr>
          <p:nvPr>
            <p:ph type="title"/>
          </p:nvPr>
        </p:nvSpPr>
        <p:spPr>
          <a:xfrm>
            <a:off x="612646" y="639308"/>
            <a:ext cx="3493858" cy="3456894"/>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25E669-05A6-404B-8715-25833A839546}"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6597F5E1-A046-AB64-9D7D-F213B99BA206}"/>
              </a:ext>
            </a:extLst>
          </p:cNvPr>
          <p:cNvSpPr>
            <a:spLocks noGrp="1"/>
          </p:cNvSpPr>
          <p:nvPr>
            <p:ph sz="quarter" idx="13"/>
          </p:nvPr>
        </p:nvSpPr>
        <p:spPr>
          <a:xfrm>
            <a:off x="4784847" y="634990"/>
            <a:ext cx="4956175"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95694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78FADAF-0BCA-C95A-D2BE-C98740CF0EB8}"/>
              </a:ext>
            </a:extLst>
          </p:cNvPr>
          <p:cNvSpPr>
            <a:spLocks noGrp="1"/>
          </p:cNvSpPr>
          <p:nvPr>
            <p:ph type="title"/>
          </p:nvPr>
        </p:nvSpPr>
        <p:spPr>
          <a:xfrm>
            <a:off x="614678" y="634556"/>
            <a:ext cx="3923455" cy="4083580"/>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6DFBFE4-ABE6-4446-98A0-81193AB08FE6}"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3B645384-979B-3284-353F-AE6BA73B6308}"/>
              </a:ext>
            </a:extLst>
          </p:cNvPr>
          <p:cNvSpPr>
            <a:spLocks noGrp="1"/>
          </p:cNvSpPr>
          <p:nvPr>
            <p:ph sz="quarter" idx="13"/>
          </p:nvPr>
        </p:nvSpPr>
        <p:spPr>
          <a:xfrm>
            <a:off x="5156011" y="634990"/>
            <a:ext cx="6045390"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39199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C402DE-0801-3DC8-B525-21BE7D10845C}"/>
              </a:ext>
            </a:extLst>
          </p:cNvPr>
          <p:cNvSpPr>
            <a:spLocks noGrp="1"/>
          </p:cNvSpPr>
          <p:nvPr>
            <p:ph type="title"/>
          </p:nvPr>
        </p:nvSpPr>
        <p:spPr>
          <a:xfrm>
            <a:off x="614677" y="634990"/>
            <a:ext cx="3496147" cy="4940661"/>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830A1E6-64A0-A640-8661-BD4B0C6BF0D6}"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FAFB8F5C-FBC3-1AD5-7B6E-3D6E72CC8EDA}"/>
              </a:ext>
            </a:extLst>
          </p:cNvPr>
          <p:cNvSpPr>
            <a:spLocks noGrp="1"/>
          </p:cNvSpPr>
          <p:nvPr>
            <p:ph sz="quarter" idx="13"/>
          </p:nvPr>
        </p:nvSpPr>
        <p:spPr>
          <a:xfrm>
            <a:off x="4800600" y="634990"/>
            <a:ext cx="6775703"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63318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14E02C-EAB1-336F-35FC-74C50ABEE3F5}"/>
              </a:ext>
            </a:extLst>
          </p:cNvPr>
          <p:cNvSpPr>
            <a:spLocks noGrp="1"/>
          </p:cNvSpPr>
          <p:nvPr>
            <p:ph type="title"/>
          </p:nvPr>
        </p:nvSpPr>
        <p:spPr>
          <a:xfrm>
            <a:off x="612646" y="634991"/>
            <a:ext cx="3203979" cy="2960689"/>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E2C4FF-3DB1-694D-98F8-CDB69183155A}"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7">
            <a:extLst>
              <a:ext uri="{FF2B5EF4-FFF2-40B4-BE49-F238E27FC236}">
                <a16:creationId xmlns:a16="http://schemas.microsoft.com/office/drawing/2014/main" id="{A0FAA1F1-BF1B-05BE-95CD-DAD1794AEEC3}"/>
              </a:ext>
            </a:extLst>
          </p:cNvPr>
          <p:cNvSpPr>
            <a:spLocks noGrp="1"/>
          </p:cNvSpPr>
          <p:nvPr>
            <p:ph sz="quarter" idx="13"/>
          </p:nvPr>
        </p:nvSpPr>
        <p:spPr>
          <a:xfrm>
            <a:off x="4336430" y="634990"/>
            <a:ext cx="7239873" cy="52212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060840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B705E-6980-8EA2-DEFB-527BC9F42B3C}"/>
              </a:ext>
            </a:extLst>
          </p:cNvPr>
          <p:cNvSpPr>
            <a:spLocks noGrp="1"/>
          </p:cNvSpPr>
          <p:nvPr>
            <p:ph type="title"/>
          </p:nvPr>
        </p:nvSpPr>
        <p:spPr>
          <a:xfrm>
            <a:off x="5195209" y="649229"/>
            <a:ext cx="6426389" cy="1315029"/>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3B20CA3A-3B93-8A4D-A86D-073A7B7FB78B}" type="datetime1">
              <a:rPr lang="en-US" smtClean="0"/>
              <a:t>2/13/2026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1DEA9FDC-933A-D673-02B2-DFC917E1F183}"/>
              </a:ext>
            </a:extLst>
          </p:cNvPr>
          <p:cNvSpPr>
            <a:spLocks noGrp="1"/>
          </p:cNvSpPr>
          <p:nvPr>
            <p:ph sz="quarter" idx="14"/>
          </p:nvPr>
        </p:nvSpPr>
        <p:spPr>
          <a:xfrm>
            <a:off x="5196566" y="2129468"/>
            <a:ext cx="6418935" cy="40931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32315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54697B-6BB0-3017-1C4B-D8473D35C9F1}"/>
              </a:ext>
            </a:extLst>
          </p:cNvPr>
          <p:cNvSpPr>
            <a:spLocks noGrp="1"/>
          </p:cNvSpPr>
          <p:nvPr>
            <p:ph type="title"/>
          </p:nvPr>
        </p:nvSpPr>
        <p:spPr>
          <a:xfrm>
            <a:off x="612647" y="634999"/>
            <a:ext cx="6339541" cy="1191320"/>
          </a:xfrm>
        </p:spPr>
        <p:txBody>
          <a:bodyPr anchor="t"/>
          <a:lstStyle/>
          <a:p>
            <a:r>
              <a:rPr lang="en-US"/>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83FF3418-23F6-0E41-81BF-3ADC067979C5}" type="datetime1">
              <a:rPr lang="en-US" smtClean="0"/>
              <a:t>2/13/2026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071AEEC6-CCC7-7524-30CC-97FFD70292E7}"/>
              </a:ext>
            </a:extLst>
          </p:cNvPr>
          <p:cNvSpPr>
            <a:spLocks noGrp="1"/>
          </p:cNvSpPr>
          <p:nvPr>
            <p:ph sz="quarter" idx="14"/>
          </p:nvPr>
        </p:nvSpPr>
        <p:spPr>
          <a:xfrm>
            <a:off x="612774" y="1975104"/>
            <a:ext cx="6339414" cy="42289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97890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2/13/2026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487130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035DE79-838A-407A-D882-E2ECC332BA37}"/>
              </a:ext>
            </a:extLst>
          </p:cNvPr>
          <p:cNvSpPr>
            <a:spLocks noGrp="1"/>
          </p:cNvSpPr>
          <p:nvPr>
            <p:ph type="title"/>
          </p:nvPr>
        </p:nvSpPr>
        <p:spPr>
          <a:xfrm>
            <a:off x="612646" y="634999"/>
            <a:ext cx="8053370" cy="932688"/>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0CAB06F6-E685-BB44-8251-DAABC7824548}" type="datetime1">
              <a:rPr lang="en-US" smtClean="0"/>
              <a:t>2/13/2026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7">
            <a:extLst>
              <a:ext uri="{FF2B5EF4-FFF2-40B4-BE49-F238E27FC236}">
                <a16:creationId xmlns:a16="http://schemas.microsoft.com/office/drawing/2014/main" id="{74611DE4-D3F2-8522-9161-AA66017D25C5}"/>
              </a:ext>
            </a:extLst>
          </p:cNvPr>
          <p:cNvSpPr>
            <a:spLocks noGrp="1"/>
          </p:cNvSpPr>
          <p:nvPr>
            <p:ph sz="quarter" idx="14"/>
          </p:nvPr>
        </p:nvSpPr>
        <p:spPr>
          <a:xfrm>
            <a:off x="612646" y="1710153"/>
            <a:ext cx="8053370" cy="453537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45645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7094553" y="634999"/>
            <a:ext cx="4477512" cy="1328932"/>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8FB12C4-D228-0548-ADB4-1A4C8851F4D3}"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7094553" y="2110570"/>
            <a:ext cx="4477512" cy="4282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763839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78C3E4-9A2C-A408-E558-ACBB88C70840}"/>
              </a:ext>
            </a:extLst>
          </p:cNvPr>
          <p:cNvSpPr>
            <a:spLocks noGrp="1"/>
          </p:cNvSpPr>
          <p:nvPr>
            <p:ph type="title"/>
          </p:nvPr>
        </p:nvSpPr>
        <p:spPr>
          <a:xfrm>
            <a:off x="612649" y="632326"/>
            <a:ext cx="4494189" cy="1288169"/>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992CB46-8CF1-8348-978D-ADB871DB2637}"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3FB30328-57E8-EA3D-F9A4-154570AE3DF0}"/>
              </a:ext>
            </a:extLst>
          </p:cNvPr>
          <p:cNvSpPr>
            <a:spLocks noGrp="1"/>
          </p:cNvSpPr>
          <p:nvPr>
            <p:ph sz="quarter" idx="14"/>
          </p:nvPr>
        </p:nvSpPr>
        <p:spPr>
          <a:xfrm>
            <a:off x="612775" y="2068714"/>
            <a:ext cx="4494063" cy="41569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865317"/>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496FAE0-B42A-699E-0194-1D9B07385D83}"/>
              </a:ext>
            </a:extLst>
          </p:cNvPr>
          <p:cNvSpPr>
            <a:spLocks noGrp="1"/>
          </p:cNvSpPr>
          <p:nvPr>
            <p:ph type="title"/>
          </p:nvPr>
        </p:nvSpPr>
        <p:spPr>
          <a:xfrm>
            <a:off x="8212663" y="634999"/>
            <a:ext cx="3363514"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C35D9022-AF13-914E-AAF5-06802DCD2AF1}"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B608AF4-46F5-990E-C133-313D6B22C312}"/>
              </a:ext>
            </a:extLst>
          </p:cNvPr>
          <p:cNvSpPr>
            <a:spLocks noGrp="1"/>
          </p:cNvSpPr>
          <p:nvPr>
            <p:ph sz="quarter" idx="15"/>
          </p:nvPr>
        </p:nvSpPr>
        <p:spPr>
          <a:xfrm>
            <a:off x="8212790" y="2450529"/>
            <a:ext cx="3363513" cy="385464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63465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73E7AA6-3E01-E0FE-40A6-864DFD88873B}"/>
              </a:ext>
            </a:extLst>
          </p:cNvPr>
          <p:cNvSpPr>
            <a:spLocks noGrp="1"/>
          </p:cNvSpPr>
          <p:nvPr>
            <p:ph type="title"/>
          </p:nvPr>
        </p:nvSpPr>
        <p:spPr>
          <a:xfrm>
            <a:off x="615697" y="634999"/>
            <a:ext cx="3363510"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4D3895DF-CE00-4443-B506-04551A131964}"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4" name="Content Placeholder 7">
            <a:extLst>
              <a:ext uri="{FF2B5EF4-FFF2-40B4-BE49-F238E27FC236}">
                <a16:creationId xmlns:a16="http://schemas.microsoft.com/office/drawing/2014/main" id="{07C31AA0-00A0-8749-8CC5-95B234604803}"/>
              </a:ext>
            </a:extLst>
          </p:cNvPr>
          <p:cNvSpPr>
            <a:spLocks noGrp="1"/>
          </p:cNvSpPr>
          <p:nvPr>
            <p:ph sz="quarter" idx="14"/>
          </p:nvPr>
        </p:nvSpPr>
        <p:spPr>
          <a:xfrm>
            <a:off x="615824" y="2450529"/>
            <a:ext cx="3363513" cy="3814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828216"/>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EDD9488-FAAC-3468-EC84-62DCAA385014}"/>
              </a:ext>
            </a:extLst>
          </p:cNvPr>
          <p:cNvSpPr>
            <a:spLocks noGrp="1"/>
          </p:cNvSpPr>
          <p:nvPr>
            <p:ph type="title"/>
          </p:nvPr>
        </p:nvSpPr>
        <p:spPr>
          <a:xfrm>
            <a:off x="8888061" y="634999"/>
            <a:ext cx="2699254" cy="2214453"/>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E242787B-6DCB-1542-A351-2D27DB5C9EB5}" type="datetime1">
              <a:rPr lang="en-US" smtClean="0"/>
              <a:t>2/13/2026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a:p>
        </p:txBody>
      </p:sp>
      <p:sp>
        <p:nvSpPr>
          <p:cNvPr id="13" name="Picture Placeholder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E56834F-CC6F-AB0D-0C2D-D32A96F77227}"/>
              </a:ext>
            </a:extLst>
          </p:cNvPr>
          <p:cNvSpPr>
            <a:spLocks noGrp="1"/>
          </p:cNvSpPr>
          <p:nvPr>
            <p:ph sz="quarter" idx="14"/>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795225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60D1278-B5CC-BDBD-8FA3-679C676A536D}"/>
              </a:ext>
            </a:extLst>
          </p:cNvPr>
          <p:cNvSpPr>
            <a:spLocks noGrp="1"/>
          </p:cNvSpPr>
          <p:nvPr>
            <p:ph type="title"/>
          </p:nvPr>
        </p:nvSpPr>
        <p:spPr>
          <a:xfrm>
            <a:off x="615697" y="634999"/>
            <a:ext cx="2699254" cy="221445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B71CD34A-E620-234C-80E5-E81441778490}"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3" name="Content Placeholder 7">
            <a:extLst>
              <a:ext uri="{FF2B5EF4-FFF2-40B4-BE49-F238E27FC236}">
                <a16:creationId xmlns:a16="http://schemas.microsoft.com/office/drawing/2014/main" id="{4C1D2059-BF06-D57F-DC08-4CF8A0E3616D}"/>
              </a:ext>
            </a:extLst>
          </p:cNvPr>
          <p:cNvSpPr>
            <a:spLocks noGrp="1"/>
          </p:cNvSpPr>
          <p:nvPr>
            <p:ph sz="quarter" idx="14"/>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50356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C775AC-06F6-654A-B451-BF23AC7E4EB9}"/>
              </a:ext>
            </a:extLst>
          </p:cNvPr>
          <p:cNvSpPr>
            <a:spLocks noGrp="1"/>
          </p:cNvSpPr>
          <p:nvPr>
            <p:ph type="title"/>
          </p:nvPr>
        </p:nvSpPr>
        <p:spPr>
          <a:xfrm>
            <a:off x="612646" y="5012268"/>
            <a:ext cx="4019522" cy="1127275"/>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18AFC1E-5CDA-EE42-95A5-C2F245BB2156}"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a:p>
        </p:txBody>
      </p:sp>
      <p:sp>
        <p:nvSpPr>
          <p:cNvPr id="12" name="Picture Placeholder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FB7ED5EB-305D-576F-1A1C-06E6B2A0F31B}"/>
              </a:ext>
            </a:extLst>
          </p:cNvPr>
          <p:cNvSpPr>
            <a:spLocks noGrp="1"/>
          </p:cNvSpPr>
          <p:nvPr>
            <p:ph sz="quarter" idx="15"/>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04776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425E99-2E4D-268B-5E93-5F4B4D25A22A}"/>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E626BD0-BD46-934B-ADDF-CF3299725EE4}" type="datetime1">
              <a:rPr lang="en-US" smtClean="0"/>
              <a:t>2/13/2026</a:t>
            </a:fld>
            <a:endParaRPr lang="en-US"/>
          </a:p>
        </p:txBody>
      </p:sp>
      <p:sp>
        <p:nvSpPr>
          <p:cNvPr id="9" name="Picture Placeholder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81C221A2-8407-5746-E87B-3CEAD025CD3F}"/>
              </a:ext>
            </a:extLst>
          </p:cNvPr>
          <p:cNvSpPr>
            <a:spLocks noGrp="1"/>
          </p:cNvSpPr>
          <p:nvPr>
            <p:ph sz="quarter" idx="15"/>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338308"/>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737DE76-E217-D796-38E2-BE156016BD58}"/>
              </a:ext>
            </a:extLst>
          </p:cNvPr>
          <p:cNvSpPr>
            <a:spLocks noGrp="1"/>
          </p:cNvSpPr>
          <p:nvPr>
            <p:ph type="title"/>
          </p:nvPr>
        </p:nvSpPr>
        <p:spPr>
          <a:xfrm>
            <a:off x="598328" y="634999"/>
            <a:ext cx="3021868" cy="1773540"/>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EC6455-E06F-4448-8EA7-FF67E5DC7A22}"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0" name="Content Placeholder 7">
            <a:extLst>
              <a:ext uri="{FF2B5EF4-FFF2-40B4-BE49-F238E27FC236}">
                <a16:creationId xmlns:a16="http://schemas.microsoft.com/office/drawing/2014/main" id="{38AE8B48-2473-88AA-21D0-3F9273AC0BDE}"/>
              </a:ext>
            </a:extLst>
          </p:cNvPr>
          <p:cNvSpPr>
            <a:spLocks noGrp="1"/>
          </p:cNvSpPr>
          <p:nvPr>
            <p:ph sz="quarter" idx="16"/>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63031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3FCD0E4-9CD1-93F8-08DF-3BFC834A3E76}"/>
              </a:ext>
            </a:extLst>
          </p:cNvPr>
          <p:cNvSpPr>
            <a:spLocks noGrp="1"/>
          </p:cNvSpPr>
          <p:nvPr>
            <p:ph type="title"/>
          </p:nvPr>
        </p:nvSpPr>
        <p:spPr>
          <a:xfrm>
            <a:off x="612647" y="638736"/>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24773200-F230-534A-AA8E-3237E1017D06}"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A94BBE19-E3B2-673A-37AB-2329CE36DA87}"/>
              </a:ext>
            </a:extLst>
          </p:cNvPr>
          <p:cNvSpPr>
            <a:spLocks noGrp="1"/>
          </p:cNvSpPr>
          <p:nvPr>
            <p:ph sz="quarter" idx="14"/>
          </p:nvPr>
        </p:nvSpPr>
        <p:spPr>
          <a:xfrm>
            <a:off x="612648" y="1713653"/>
            <a:ext cx="4485564"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63662469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AA955E6-9DAE-AA3C-BB38-0AC671A4095A}"/>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96C85C2-F25E-3944-B64A-31ACAD72BA40}"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4025B090-9FA9-0FC5-EA6A-9BA0F54A4064}"/>
              </a:ext>
            </a:extLst>
          </p:cNvPr>
          <p:cNvSpPr>
            <a:spLocks noGrp="1"/>
          </p:cNvSpPr>
          <p:nvPr>
            <p:ph sz="quarter" idx="14"/>
          </p:nvPr>
        </p:nvSpPr>
        <p:spPr>
          <a:xfrm>
            <a:off x="612647" y="1912398"/>
            <a:ext cx="4637269" cy="42250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276700478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3FF54FB-A206-6CBA-CEBE-32EE19C37BC1}"/>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3A96B8-82E0-6B4D-B0A8-9A4BCDF0FD2C}"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2" name="Content Placeholder 7">
            <a:extLst>
              <a:ext uri="{FF2B5EF4-FFF2-40B4-BE49-F238E27FC236}">
                <a16:creationId xmlns:a16="http://schemas.microsoft.com/office/drawing/2014/main" id="{422BCA1B-3481-37CE-708A-4CA6ACFAF7DA}"/>
              </a:ext>
            </a:extLst>
          </p:cNvPr>
          <p:cNvSpPr>
            <a:spLocks noGrp="1"/>
          </p:cNvSpPr>
          <p:nvPr>
            <p:ph sz="quarter" idx="14"/>
          </p:nvPr>
        </p:nvSpPr>
        <p:spPr>
          <a:xfrm>
            <a:off x="7103255" y="1704847"/>
            <a:ext cx="4479145"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344598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79429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D1319-A3E8-35B5-18BF-A7DAE36BE7FC}"/>
              </a:ext>
            </a:extLst>
          </p:cNvPr>
          <p:cNvSpPr>
            <a:spLocks noGrp="1"/>
          </p:cNvSpPr>
          <p:nvPr>
            <p:ph type="title"/>
          </p:nvPr>
        </p:nvSpPr>
        <p:spPr>
          <a:xfrm>
            <a:off x="612647" y="634999"/>
            <a:ext cx="3696859" cy="1316347"/>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982C3F-36DC-0440-A19E-AA83413F223D}"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1" name="Content Placeholder 7">
            <a:extLst>
              <a:ext uri="{FF2B5EF4-FFF2-40B4-BE49-F238E27FC236}">
                <a16:creationId xmlns:a16="http://schemas.microsoft.com/office/drawing/2014/main" id="{2959E347-BAB4-7F1F-65EB-C586FE97DE1E}"/>
              </a:ext>
            </a:extLst>
          </p:cNvPr>
          <p:cNvSpPr>
            <a:spLocks noGrp="1"/>
          </p:cNvSpPr>
          <p:nvPr>
            <p:ph sz="quarter" idx="14"/>
          </p:nvPr>
        </p:nvSpPr>
        <p:spPr>
          <a:xfrm>
            <a:off x="4933150" y="647724"/>
            <a:ext cx="6644488" cy="5562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69552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208" y="634999"/>
            <a:ext cx="6159851" cy="5844227"/>
          </a:xfrm>
        </p:spPr>
        <p:txBody>
          <a:bodyPr anchor="b">
            <a:normAutofit/>
          </a:bodyPr>
          <a:lstStyle>
            <a:lvl1pPr>
              <a:defRPr sz="6000" b="0" i="0">
                <a:latin typeface="+mj-lt"/>
                <a:ea typeface="Dotum" panose="020B0600000101010101" pitchFamily="34" charset="-127"/>
                <a:cs typeface="Noto Sans Kannada Thin" panose="020B0202040504020204" pitchFamily="34" charset="0"/>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a:prstGeom prst="rect">
            <a:avLst/>
          </a:prstGeom>
        </p:spPr>
        <p:txBody>
          <a:bodyPr anchor="ctr">
            <a:normAutofit/>
          </a:bodyPr>
          <a:lstStyle>
            <a:lvl1pPr marL="0" indent="0">
              <a:buNone/>
              <a:defRPr sz="14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052675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lumMod val="9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C83582-5E0E-E3D3-3C94-4ACFD9A1C718}"/>
              </a:ext>
            </a:extLst>
          </p:cNvPr>
          <p:cNvSpPr>
            <a:spLocks noGrp="1"/>
          </p:cNvSpPr>
          <p:nvPr>
            <p:ph type="title"/>
          </p:nvPr>
        </p:nvSpPr>
        <p:spPr>
          <a:xfrm>
            <a:off x="634030" y="5109709"/>
            <a:ext cx="10369296"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F18D256-8D94-AD48-AC70-FA7FB4656784}" type="datetime1">
              <a:rPr lang="en-US" smtClean="0"/>
              <a:t>2/13/2026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38897761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4A34DBE-5B8B-D933-E010-32D592317E81}"/>
              </a:ext>
            </a:extLst>
          </p:cNvPr>
          <p:cNvSpPr>
            <a:spLocks noGrp="1"/>
          </p:cNvSpPr>
          <p:nvPr>
            <p:ph type="title"/>
          </p:nvPr>
        </p:nvSpPr>
        <p:spPr>
          <a:xfrm>
            <a:off x="634030" y="5380383"/>
            <a:ext cx="6773934" cy="936333"/>
          </a:xfrm>
        </p:spPr>
        <p:txBody>
          <a:bodyPr anchor="b">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C99D08-11FA-9A4F-8AE4-C4979B640AA7}" type="datetime1">
              <a:rPr lang="en-US" smtClean="0"/>
              <a:t>2/13/2026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2775015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0774BD-35B4-BDFD-98B2-123D58FC6550}"/>
              </a:ext>
            </a:extLst>
          </p:cNvPr>
          <p:cNvSpPr>
            <a:spLocks noGrp="1"/>
          </p:cNvSpPr>
          <p:nvPr>
            <p:ph type="title"/>
          </p:nvPr>
        </p:nvSpPr>
        <p:spPr>
          <a:xfrm>
            <a:off x="634030" y="5109709"/>
            <a:ext cx="10367340"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8AE8B27-11F7-194F-8BAB-D7C03BEEA90A}" type="datetime1">
              <a:rPr lang="en-US" smtClean="0"/>
              <a:t>2/13/2026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3736234457"/>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09600" y="-1186864"/>
            <a:ext cx="10652760" cy="1050725"/>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9D6C909-3D7F-834E-BB68-316E18E888F7}" type="datetime1">
              <a:rPr lang="en-US" smtClean="0"/>
              <a:t>2/13/2026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anchor="t">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6412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A6BAF69-D870-EE43-874B-AC932294DF22}" type="datetime1">
              <a:rPr lang="en-US" smtClean="0"/>
              <a:t>2/13/2026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anchor="b">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30767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F7E9A70-5D05-F64F-A304-DFD75CCDEE2E}" type="datetime1">
              <a:rPr lang="en-US" smtClean="0"/>
              <a:t>2/13/2026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anchor="b">
            <a:normAutofit/>
          </a:bodyPr>
          <a:lstStyle>
            <a:lvl1pPr marL="0" indent="0">
              <a:lnSpc>
                <a:spcPct val="90000"/>
              </a:lnSpc>
              <a:buNone/>
              <a:defRPr sz="6000" b="0" cap="all" baseline="0">
                <a:solidFill>
                  <a:schemeClr val="accent1">
                    <a:lumMod val="25000"/>
                  </a:schemeClr>
                </a:solidFill>
              </a:defRPr>
            </a:lvl1pPr>
            <a:lvl2pPr marL="228600" indent="0">
              <a:lnSpc>
                <a:spcPct val="90000"/>
              </a:lnSpc>
              <a:buNone/>
              <a:defRPr sz="6000" b="0" cap="all" baseline="0">
                <a:solidFill>
                  <a:schemeClr val="accent1">
                    <a:lumMod val="25000"/>
                  </a:schemeClr>
                </a:solidFill>
              </a:defRPr>
            </a:lvl2pPr>
            <a:lvl3pPr marL="457200" indent="0">
              <a:lnSpc>
                <a:spcPct val="90000"/>
              </a:lnSpc>
              <a:buNone/>
              <a:defRPr sz="6000" b="0" cap="all" baseline="0">
                <a:solidFill>
                  <a:schemeClr val="accent1">
                    <a:lumMod val="25000"/>
                  </a:schemeClr>
                </a:solidFill>
              </a:defRPr>
            </a:lvl3pPr>
            <a:lvl4pPr marL="685800" indent="0">
              <a:lnSpc>
                <a:spcPct val="90000"/>
              </a:lnSpc>
              <a:buNone/>
              <a:defRPr sz="6000" b="0" cap="all" baseline="0">
                <a:solidFill>
                  <a:schemeClr val="accent1">
                    <a:lumMod val="25000"/>
                  </a:schemeClr>
                </a:solidFill>
              </a:defRPr>
            </a:lvl4pPr>
            <a:lvl5pPr marL="914400" indent="0">
              <a:lnSpc>
                <a:spcPct val="90000"/>
              </a:lnSpc>
              <a:buNone/>
              <a:defRPr sz="6000" b="0" cap="all" baseline="0">
                <a:solidFill>
                  <a:schemeClr val="accent1">
                    <a:lumMod val="25000"/>
                  </a:schemeClr>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69099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151979D-E75F-A743-8C5B-88CDEDEC73D6}" type="datetime1">
              <a:rPr lang="en-US" smtClean="0"/>
              <a:t>2/13/2026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anchor="b">
            <a:normAutofit/>
          </a:bodyPr>
          <a:lstStyle>
            <a:lvl1pPr marL="0" indent="0">
              <a:lnSpc>
                <a:spcPct val="90000"/>
              </a:lnSpc>
              <a:buNone/>
              <a:defRPr sz="6000" b="1" cap="all" baseline="0">
                <a:solidFill>
                  <a:schemeClr val="bg1"/>
                </a:solidFill>
              </a:defRPr>
            </a:lvl1pPr>
            <a:lvl2pPr marL="228600" indent="0">
              <a:lnSpc>
                <a:spcPct val="90000"/>
              </a:lnSpc>
              <a:buNone/>
              <a:defRPr sz="6000" b="1" cap="all" baseline="0">
                <a:solidFill>
                  <a:schemeClr val="bg1"/>
                </a:solidFill>
              </a:defRPr>
            </a:lvl2pPr>
            <a:lvl3pPr marL="457200" indent="0">
              <a:lnSpc>
                <a:spcPct val="90000"/>
              </a:lnSpc>
              <a:buNone/>
              <a:defRPr sz="6000" b="1" cap="all" baseline="0">
                <a:solidFill>
                  <a:schemeClr val="bg1"/>
                </a:solidFill>
              </a:defRPr>
            </a:lvl3pPr>
            <a:lvl4pPr marL="685800" indent="0">
              <a:lnSpc>
                <a:spcPct val="90000"/>
              </a:lnSpc>
              <a:buNone/>
              <a:defRPr sz="6000" b="1" cap="all" baseline="0">
                <a:solidFill>
                  <a:schemeClr val="bg1"/>
                </a:solidFill>
              </a:defRPr>
            </a:lvl4pPr>
            <a:lvl5pPr marL="914400" indent="0">
              <a:lnSpc>
                <a:spcPct val="90000"/>
              </a:lnSpc>
              <a:buNone/>
              <a:defRPr sz="6000" b="1" cap="all" baseline="0">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007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tx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C72B243-4245-AC4F-8428-841FDABED002}" type="datetime1">
              <a:rPr lang="en-US" smtClean="0"/>
              <a:t>2/13/2026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anchor="t">
            <a:normAutofit/>
          </a:bodyPr>
          <a:lstStyle>
            <a:lvl1pPr marL="164592" indent="-164592">
              <a:lnSpc>
                <a:spcPct val="100000"/>
              </a:lnSpc>
              <a:spcBef>
                <a:spcPts val="0"/>
              </a:spcBef>
              <a:buNone/>
              <a:defRPr sz="3600" cap="all" baseline="0">
                <a:latin typeface="+mj-lt"/>
              </a:defRPr>
            </a:lvl1pPr>
          </a:lstStyle>
          <a:p>
            <a:pPr lvl="0"/>
            <a:r>
              <a:rPr lang="en-US"/>
              <a:t>CLICK TO ADD QUOTE</a:t>
            </a:r>
          </a:p>
        </p:txBody>
      </p:sp>
    </p:spTree>
    <p:extLst>
      <p:ext uri="{BB962C8B-B14F-4D97-AF65-F5344CB8AC3E}">
        <p14:creationId xmlns:p14="http://schemas.microsoft.com/office/powerpoint/2010/main" val="4877898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01A4D632-3FB7-744B-8469-F41F493E43AE}" type="datetime1">
              <a:rPr lang="en-US" smtClean="0"/>
              <a:t>2/13/2026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anchor="t">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3126049848"/>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BE62FDEF-F6CD-6E40-89C3-8A8BB711875E}" type="datetime1">
              <a:rPr lang="en-US" smtClean="0"/>
              <a:t>2/13/2026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anchor="b">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33171090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0"/>
            <a:ext cx="10923934" cy="1127756"/>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AA6F6B0-7BDB-FB4C-9D76-500FE2DDFD1B}" type="datetime1">
              <a:rPr lang="en-US" smtClean="0"/>
              <a:t>2/13/2026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70CAE2F0-3041-7269-FCA3-14BE4B94ECBB}"/>
              </a:ext>
            </a:extLst>
          </p:cNvPr>
          <p:cNvSpPr>
            <a:spLocks noGrp="1"/>
          </p:cNvSpPr>
          <p:nvPr>
            <p:ph sz="quarter" idx="15"/>
          </p:nvPr>
        </p:nvSpPr>
        <p:spPr>
          <a:xfrm>
            <a:off x="634030" y="2129474"/>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202FAAFA-42C4-CFD2-DBA8-BC2201120380}"/>
              </a:ext>
            </a:extLst>
          </p:cNvPr>
          <p:cNvSpPr>
            <a:spLocks noGrp="1"/>
          </p:cNvSpPr>
          <p:nvPr>
            <p:ph sz="quarter" idx="16"/>
          </p:nvPr>
        </p:nvSpPr>
        <p:spPr>
          <a:xfrm>
            <a:off x="6290632" y="2128839"/>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59772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41197"/>
            <a:ext cx="10923934" cy="688973"/>
          </a:xfrm>
        </p:spPr>
        <p:txBody>
          <a:bodyPr>
            <a:normAutofit/>
          </a:bodyPr>
          <a:lstStyle>
            <a:lvl1pPr>
              <a:defRPr sz="3600"/>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C4869-D3B1-C341-9C4A-88DDA4DA192E}" type="datetime1">
              <a:rPr lang="en-US" smtClean="0"/>
              <a:t>2/13/2026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456523"/>
            <a:ext cx="526664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9">
            <a:extLst>
              <a:ext uri="{FF2B5EF4-FFF2-40B4-BE49-F238E27FC236}">
                <a16:creationId xmlns:a16="http://schemas.microsoft.com/office/drawing/2014/main" id="{AAF7DC9C-9332-6860-8B76-290D8AE372F7}"/>
              </a:ext>
            </a:extLst>
          </p:cNvPr>
          <p:cNvSpPr>
            <a:spLocks noGrp="1"/>
          </p:cNvSpPr>
          <p:nvPr>
            <p:ph sz="quarter" idx="15"/>
          </p:nvPr>
        </p:nvSpPr>
        <p:spPr>
          <a:xfrm>
            <a:off x="633470"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456523"/>
            <a:ext cx="527146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9">
            <a:extLst>
              <a:ext uri="{FF2B5EF4-FFF2-40B4-BE49-F238E27FC236}">
                <a16:creationId xmlns:a16="http://schemas.microsoft.com/office/drawing/2014/main" id="{814A6650-A301-AE53-ACE9-C9F2CCD87CE8}"/>
              </a:ext>
            </a:extLst>
          </p:cNvPr>
          <p:cNvSpPr>
            <a:spLocks noGrp="1"/>
          </p:cNvSpPr>
          <p:nvPr>
            <p:ph sz="quarter" idx="16"/>
          </p:nvPr>
        </p:nvSpPr>
        <p:spPr>
          <a:xfrm>
            <a:off x="6290072"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6848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634990"/>
            <a:ext cx="10923933" cy="1127761"/>
          </a:xfrm>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1280AA4-9AC4-7644-BD1D-3608838FE24E}" type="datetime1">
              <a:rPr lang="en-US" smtClean="0"/>
              <a:t>2/13/2026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92849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081334A-D224-D041-9F63-26A9E0C05551}" type="datetime1">
              <a:rPr lang="en-US" smtClean="0"/>
              <a:t>2/13/2026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285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0" y="634990"/>
            <a:ext cx="4096995" cy="187400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F2E9456-38E2-B645-89F2-A4EE19009666}" type="datetime1">
              <a:rPr lang="en-US" smtClean="0"/>
              <a:t>2/13/2026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866804"/>
            <a:ext cx="4096987" cy="2989469"/>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62330" y="634989"/>
            <a:ext cx="6495633" cy="5857517"/>
          </a:xfrm>
          <a:prstGeom prst="rect">
            <a:avLst/>
          </a:prstGeo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20117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0D70470-0208-0F43-B978-960D5782D9F1}" type="datetime1">
              <a:rPr lang="en-US" smtClean="0"/>
              <a:t>2/13/2026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56D9DA0-6EE9-83EA-17DF-CC70C2448FC9}"/>
              </a:ext>
            </a:extLst>
          </p:cNvPr>
          <p:cNvSpPr>
            <a:spLocks noGrp="1"/>
          </p:cNvSpPr>
          <p:nvPr>
            <p:ph type="title"/>
          </p:nvPr>
        </p:nvSpPr>
        <p:spPr>
          <a:xfrm>
            <a:off x="612648" y="634990"/>
            <a:ext cx="3595634" cy="1762083"/>
          </a:xfrm>
        </p:spPr>
        <p:txBody>
          <a:bodyPr anchor="t">
            <a:normAutofit/>
          </a:bodyPr>
          <a:lstStyle>
            <a:lvl1pPr>
              <a:defRPr sz="3600"/>
            </a:lvl1pPr>
          </a:lstStyle>
          <a:p>
            <a:r>
              <a:rPr lang="en-US"/>
              <a:t>Click to edit Master title style</a:t>
            </a:r>
          </a:p>
        </p:txBody>
      </p:sp>
      <p:sp>
        <p:nvSpPr>
          <p:cNvPr id="11" name="Text Placeholder 3">
            <a:extLst>
              <a:ext uri="{FF2B5EF4-FFF2-40B4-BE49-F238E27FC236}">
                <a16:creationId xmlns:a16="http://schemas.microsoft.com/office/drawing/2014/main" id="{D578782C-4033-2DC8-D9E6-78F704FB0CD8}"/>
              </a:ext>
            </a:extLst>
          </p:cNvPr>
          <p:cNvSpPr>
            <a:spLocks noGrp="1"/>
          </p:cNvSpPr>
          <p:nvPr>
            <p:ph type="body" sz="half" idx="2"/>
          </p:nvPr>
        </p:nvSpPr>
        <p:spPr>
          <a:xfrm>
            <a:off x="612648" y="2521515"/>
            <a:ext cx="3585586" cy="370111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15299115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10906802" cy="1607128"/>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B19637D-AC4A-CB4E-96DC-9B86DEC28BAD}"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36525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B729E58-15D4-9BFF-C39F-C683CED24138}"/>
              </a:ext>
            </a:extLst>
          </p:cNvPr>
          <p:cNvSpPr>
            <a:spLocks noGrp="1"/>
          </p:cNvSpPr>
          <p:nvPr>
            <p:ph type="title"/>
          </p:nvPr>
        </p:nvSpPr>
        <p:spPr>
          <a:xfrm>
            <a:off x="612647" y="1953889"/>
            <a:ext cx="8430767" cy="1842020"/>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a:lstStyle>
            <a:lvl1pPr>
              <a:defRPr>
                <a:solidFill>
                  <a:schemeClr val="bg1"/>
                </a:solidFill>
              </a:defRPr>
            </a:lvl1pPr>
          </a:lstStyle>
          <a:p>
            <a:fld id="{68B0FE8A-6796-DE43-BAD7-69D8B3740AE7}" type="datetime1">
              <a:rPr lang="en-US" smtClean="0"/>
              <a:t>2/13/2026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anchor="b">
            <a:no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438334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rtl="0">
              <a:defRPr sz="800" b="0" i="0">
                <a:solidFill>
                  <a:schemeClr val="tx1"/>
                </a:solidFill>
                <a:latin typeface="+mn-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fld id="{43E9438E-6B36-A14E-B7B5-A87CBFCBC1F9}" type="datetime1">
              <a:rPr lang="en-US" smtClean="0"/>
              <a:pPr/>
              <a:t>2/13/2026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a:p>
        </p:txBody>
      </p:sp>
      <p:sp>
        <p:nvSpPr>
          <p:cNvPr id="9" name="Text Placeholder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7829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C66EA-EA23-257F-6A0A-13383DD13E72}"/>
              </a:ext>
            </a:extLst>
          </p:cNvPr>
          <p:cNvSpPr>
            <a:spLocks noGrp="1"/>
          </p:cNvSpPr>
          <p:nvPr>
            <p:ph type="ctrTitle"/>
          </p:nvPr>
        </p:nvSpPr>
        <p:spPr>
          <a:xfrm>
            <a:off x="612648" y="1373807"/>
            <a:ext cx="3892269" cy="3331896"/>
          </a:xfrm>
        </p:spPr>
        <p:txBody>
          <a:bodyPr anchor="t">
            <a:normAutofit/>
          </a:bodyPr>
          <a:lstStyle/>
          <a:p>
            <a:r>
              <a:rPr lang="en-US"/>
              <a:t>ETL / ELT Pipeline Basics</a:t>
            </a:r>
          </a:p>
        </p:txBody>
      </p:sp>
      <p:sp>
        <p:nvSpPr>
          <p:cNvPr id="3" name="Subtitle 2">
            <a:extLst>
              <a:ext uri="{FF2B5EF4-FFF2-40B4-BE49-F238E27FC236}">
                <a16:creationId xmlns:a16="http://schemas.microsoft.com/office/drawing/2014/main" id="{72AA90FB-61E0-3FBC-C55C-47170D105F2A}"/>
              </a:ext>
            </a:extLst>
          </p:cNvPr>
          <p:cNvSpPr>
            <a:spLocks noGrp="1"/>
          </p:cNvSpPr>
          <p:nvPr>
            <p:ph type="subTitle" idx="1"/>
          </p:nvPr>
        </p:nvSpPr>
        <p:spPr>
          <a:xfrm>
            <a:off x="612649" y="4811646"/>
            <a:ext cx="3174160" cy="1411356"/>
          </a:xfrm>
        </p:spPr>
        <p:txBody>
          <a:bodyPr anchor="b">
            <a:normAutofit/>
          </a:bodyPr>
          <a:lstStyle/>
          <a:p>
            <a:r>
              <a:rPr lang="en-US"/>
              <a:t>Fundamental processes for data integration workflows</a:t>
            </a:r>
          </a:p>
        </p:txBody>
      </p:sp>
      <p:sp>
        <p:nvSpPr>
          <p:cNvPr id="4" name="Footer Placeholder 3">
            <a:extLst>
              <a:ext uri="{FF2B5EF4-FFF2-40B4-BE49-F238E27FC236}">
                <a16:creationId xmlns:a16="http://schemas.microsoft.com/office/drawing/2014/main" id="{4F193145-2851-9A7B-3BA6-628B8A510C26}"/>
              </a:ext>
            </a:extLst>
          </p:cNvPr>
          <p:cNvSpPr>
            <a:spLocks noGrp="1"/>
          </p:cNvSpPr>
          <p:nvPr>
            <p:ph type="ftr" sz="quarter" idx="15"/>
          </p:nvPr>
        </p:nvSpPr>
        <p:spPr>
          <a:xfrm rot="16200000">
            <a:off x="-2067733" y="2231455"/>
            <a:ext cx="4564378" cy="42976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15297AD-03A1-ED3C-442D-5248F6DDA282}"/>
              </a:ext>
            </a:extLst>
          </p:cNvPr>
          <p:cNvSpPr>
            <a:spLocks noGrp="1"/>
          </p:cNvSpPr>
          <p:nvPr>
            <p:ph type="dt" sz="half" idx="14"/>
          </p:nvPr>
        </p:nvSpPr>
        <p:spPr>
          <a:xfrm rot="16200000">
            <a:off x="-537354" y="5265452"/>
            <a:ext cx="1494475" cy="420624"/>
          </a:xfrm>
        </p:spPr>
        <p:txBody>
          <a:bodyPr anchor="ctr">
            <a:normAutofit/>
          </a:bodyPr>
          <a:lstStyle/>
          <a:p>
            <a:pPr>
              <a:spcAft>
                <a:spcPts val="600"/>
              </a:spcAft>
            </a:pPr>
            <a:fld id="{49B045A2-93A3-0245-952F-F70516988491}" type="datetime1">
              <a:rPr lang="en-US" smtClean="0"/>
              <a:pPr>
                <a:spcAft>
                  <a:spcPts val="600"/>
                </a:spcAft>
              </a:pPr>
              <a:t>2/13/2026</a:t>
            </a:fld>
            <a:endParaRPr lang="en-US"/>
          </a:p>
        </p:txBody>
      </p:sp>
      <p:sp>
        <p:nvSpPr>
          <p:cNvPr id="6" name="Slide Number Placeholder 5">
            <a:extLst>
              <a:ext uri="{FF2B5EF4-FFF2-40B4-BE49-F238E27FC236}">
                <a16:creationId xmlns:a16="http://schemas.microsoft.com/office/drawing/2014/main" id="{310AC35C-F37E-0B57-1645-D649E2C6C7F6}"/>
              </a:ext>
            </a:extLst>
          </p:cNvPr>
          <p:cNvSpPr>
            <a:spLocks noGrp="1"/>
          </p:cNvSpPr>
          <p:nvPr>
            <p:ph type="sldNum" sz="quarter" idx="16"/>
          </p:nvPr>
        </p:nvSpPr>
        <p:spPr>
          <a:xfrm>
            <a:off x="-429" y="64928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pic>
        <p:nvPicPr>
          <p:cNvPr id="8" name="Picture Placeholder 7" descr="Green and yellow layers">
            <a:extLst>
              <a:ext uri="{FF2B5EF4-FFF2-40B4-BE49-F238E27FC236}">
                <a16:creationId xmlns:a16="http://schemas.microsoft.com/office/drawing/2014/main" id="{DE259127-6C55-43C5-9D89-53461F30388F}"/>
              </a:ext>
            </a:extLst>
          </p:cNvPr>
          <p:cNvPicPr>
            <a:picLocks noGrp="1" noChangeAspect="1"/>
          </p:cNvPicPr>
          <p:nvPr>
            <p:ph type="pic" sz="quarter" idx="13"/>
          </p:nvPr>
        </p:nvPicPr>
        <p:blipFill>
          <a:blip r:embed="rId3"/>
          <a:srcRect l="8446" r="8446"/>
          <a:stretch/>
        </p:blipFill>
        <p:spPr>
          <a:xfrm>
            <a:off x="5111697" y="0"/>
            <a:ext cx="7080180" cy="6858000"/>
          </a:xfrm>
          <a:blipFill dpi="0" rotWithShape="1">
            <a:blip r:embed="rId4">
              <a:alphaModFix amt="60000"/>
            </a:blip>
            <a:srcRect/>
            <a:stretch>
              <a:fillRect/>
            </a:stretch>
          </a:blipFill>
        </p:spPr>
      </p:pic>
    </p:spTree>
    <p:extLst>
      <p:ext uri="{BB962C8B-B14F-4D97-AF65-F5344CB8AC3E}">
        <p14:creationId xmlns:p14="http://schemas.microsoft.com/office/powerpoint/2010/main" val="305989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8738-F908-C52F-99DF-85AC7D2D56C3}"/>
              </a:ext>
            </a:extLst>
          </p:cNvPr>
          <p:cNvSpPr>
            <a:spLocks noGrp="1"/>
          </p:cNvSpPr>
          <p:nvPr>
            <p:ph type="ctrTitle"/>
          </p:nvPr>
        </p:nvSpPr>
        <p:spPr>
          <a:xfrm>
            <a:off x="612648" y="1001713"/>
            <a:ext cx="7909560" cy="5477510"/>
          </a:xfrm>
        </p:spPr>
        <p:txBody>
          <a:bodyPr anchor="b">
            <a:normAutofit/>
          </a:bodyPr>
          <a:lstStyle/>
          <a:p>
            <a:r>
              <a:rPr lang="en-US"/>
              <a:t>ETL / ELT Pipeline Basics</a:t>
            </a:r>
          </a:p>
        </p:txBody>
      </p:sp>
      <p:sp>
        <p:nvSpPr>
          <p:cNvPr id="4" name="Footer Placeholder 3">
            <a:extLst>
              <a:ext uri="{FF2B5EF4-FFF2-40B4-BE49-F238E27FC236}">
                <a16:creationId xmlns:a16="http://schemas.microsoft.com/office/drawing/2014/main" id="{7333A431-1F04-6376-2B12-E68918B1EC91}"/>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73B029CF-4CAC-73D1-472D-68F4BEDD514F}"/>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2/13/2026</a:t>
            </a:fld>
            <a:endParaRPr lang="en-US"/>
          </a:p>
        </p:txBody>
      </p:sp>
      <p:sp>
        <p:nvSpPr>
          <p:cNvPr id="6" name="Slide Number Placeholder 5">
            <a:extLst>
              <a:ext uri="{FF2B5EF4-FFF2-40B4-BE49-F238E27FC236}">
                <a16:creationId xmlns:a16="http://schemas.microsoft.com/office/drawing/2014/main" id="{EA09BF90-2FE1-3365-934F-427B3B747E22}"/>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2828628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01A2B-DDC8-BEF9-A9CC-AE8F485AC1EC}"/>
              </a:ext>
            </a:extLst>
          </p:cNvPr>
          <p:cNvSpPr>
            <a:spLocks noGrp="1"/>
          </p:cNvSpPr>
          <p:nvPr>
            <p:ph type="title"/>
          </p:nvPr>
        </p:nvSpPr>
        <p:spPr>
          <a:xfrm>
            <a:off x="4487024" y="634999"/>
            <a:ext cx="6950232" cy="1124525"/>
          </a:xfrm>
        </p:spPr>
        <p:txBody>
          <a:bodyPr anchor="t">
            <a:normAutofit/>
          </a:bodyPr>
          <a:lstStyle/>
          <a:p>
            <a:r>
              <a:rPr lang="en-US"/>
              <a:t>OOP for ETL / ELT Pipeline Design</a:t>
            </a:r>
          </a:p>
        </p:txBody>
      </p:sp>
      <p:sp>
        <p:nvSpPr>
          <p:cNvPr id="3" name="Footer Placeholder 2">
            <a:extLst>
              <a:ext uri="{FF2B5EF4-FFF2-40B4-BE49-F238E27FC236}">
                <a16:creationId xmlns:a16="http://schemas.microsoft.com/office/drawing/2014/main" id="{9EDC0F03-970F-9B2E-262A-F8119071859E}"/>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0755A50E-D76E-B11A-6D7D-9B380126A381}"/>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E5C02A85-0DCE-BF3C-1D39-F46C8C2EE4F9}"/>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DED4EFFC-2FCE-402C-ABC4-B641B9BAAE14}"/>
              </a:ext>
            </a:extLst>
          </p:cNvPr>
          <p:cNvPicPr>
            <a:picLocks noGrp="1" noChangeAspect="1"/>
          </p:cNvPicPr>
          <p:nvPr>
            <p:ph type="pic" sz="quarter" idx="13"/>
          </p:nvPr>
        </p:nvPicPr>
        <p:blipFill>
          <a:blip r:embed="rId3"/>
          <a:srcRect l="27264" r="41039" b="-1"/>
          <a:stretch>
            <a:fillRect/>
          </a:stretch>
        </p:blipFill>
        <p:spPr>
          <a:xfrm>
            <a:off x="598328" y="10"/>
            <a:ext cx="3256513" cy="6857990"/>
          </a:xfrm>
        </p:spPr>
      </p:pic>
      <p:sp>
        <p:nvSpPr>
          <p:cNvPr id="7" name="Content Placeholder 6">
            <a:extLst>
              <a:ext uri="{FF2B5EF4-FFF2-40B4-BE49-F238E27FC236}">
                <a16:creationId xmlns:a16="http://schemas.microsoft.com/office/drawing/2014/main" id="{AE4E82D9-7516-EC82-6A1D-CC878D78D67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Organized Pipeline Structure</a:t>
            </a:r>
          </a:p>
          <a:p>
            <a:pPr marL="0" lvl="1" indent="0">
              <a:lnSpc>
                <a:spcPct val="110000"/>
              </a:lnSpc>
              <a:buFont typeface="Arial" panose="020B0604020202020204" pitchFamily="34" charset="0"/>
              <a:buNone/>
            </a:pPr>
            <a:r>
              <a:t>Using classes helps clearly organize ETL pipeline steps, simplifying extension and updates.</a:t>
            </a:r>
            <a:endParaRPr lang="en-US"/>
          </a:p>
          <a:p>
            <a:pPr marL="0" indent="0">
              <a:lnSpc>
                <a:spcPct val="110000"/>
              </a:lnSpc>
              <a:spcBef>
                <a:spcPts val="2500"/>
              </a:spcBef>
              <a:buFont typeface="Arial" panose="020B0604020202020204" pitchFamily="34" charset="0"/>
              <a:buNone/>
            </a:pPr>
            <a:r>
              <a:rPr lang="en-US" b="1"/>
              <a:t>Encapsulation for Safety</a:t>
            </a:r>
          </a:p>
          <a:p>
            <a:pPr marL="0" lvl="1" indent="0">
              <a:lnSpc>
                <a:spcPct val="110000"/>
              </a:lnSpc>
              <a:buFont typeface="Arial" panose="020B0604020202020204" pitchFamily="34" charset="0"/>
              <a:buNone/>
            </a:pPr>
            <a:r>
              <a:t>Encapsulation keeps data and logic within classes, reducing errors and confusion in pipelines.</a:t>
            </a:r>
            <a:endParaRPr lang="en-US"/>
          </a:p>
          <a:p>
            <a:pPr marL="0" indent="0">
              <a:lnSpc>
                <a:spcPct val="110000"/>
              </a:lnSpc>
              <a:spcBef>
                <a:spcPts val="2500"/>
              </a:spcBef>
              <a:buFont typeface="Arial" panose="020B0604020202020204" pitchFamily="34" charset="0"/>
              <a:buNone/>
            </a:pPr>
            <a:r>
              <a:rPr lang="en-US" b="1"/>
              <a:t>Code Reuse via Inheritance</a:t>
            </a:r>
          </a:p>
          <a:p>
            <a:pPr marL="0" lvl="1" indent="0">
              <a:lnSpc>
                <a:spcPct val="110000"/>
              </a:lnSpc>
              <a:buFont typeface="Arial" panose="020B0604020202020204" pitchFamily="34" charset="0"/>
              <a:buNone/>
            </a:pPr>
            <a:r>
              <a:t>Inheritance enables building new pipeline components from existing ones, saving development time.</a:t>
            </a:r>
            <a:endParaRPr lang="en-US"/>
          </a:p>
          <a:p>
            <a:pPr marL="0" indent="0">
              <a:lnSpc>
                <a:spcPct val="110000"/>
              </a:lnSpc>
              <a:spcBef>
                <a:spcPts val="2500"/>
              </a:spcBef>
              <a:buFont typeface="Arial" panose="020B0604020202020204" pitchFamily="34" charset="0"/>
              <a:buNone/>
            </a:pPr>
            <a:r>
              <a:rPr lang="en-US" b="1"/>
              <a:t>Flexible Components with Polymorphism</a:t>
            </a:r>
          </a:p>
          <a:p>
            <a:pPr marL="0" lvl="1" indent="0">
              <a:lnSpc>
                <a:spcPct val="110000"/>
              </a:lnSpc>
              <a:buFont typeface="Arial" panose="020B0604020202020204" pitchFamily="34" charset="0"/>
              <a:buNone/>
            </a:pPr>
            <a:r>
              <a:t>Polymorphism allows swapping components without changing workflow, enabling easy pipeline updates.</a:t>
            </a:r>
            <a:endParaRPr lang="en-US"/>
          </a:p>
        </p:txBody>
      </p:sp>
    </p:spTree>
    <p:extLst>
      <p:ext uri="{BB962C8B-B14F-4D97-AF65-F5344CB8AC3E}">
        <p14:creationId xmlns:p14="http://schemas.microsoft.com/office/powerpoint/2010/main" val="3670955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F12C-7791-89ED-BB73-65C2E9ED3D65}"/>
              </a:ext>
            </a:extLst>
          </p:cNvPr>
          <p:cNvSpPr>
            <a:spLocks noGrp="1"/>
          </p:cNvSpPr>
          <p:nvPr>
            <p:ph type="title"/>
          </p:nvPr>
        </p:nvSpPr>
        <p:spPr>
          <a:xfrm>
            <a:off x="4487024" y="634999"/>
            <a:ext cx="6950232" cy="1124525"/>
          </a:xfrm>
        </p:spPr>
        <p:txBody>
          <a:bodyPr anchor="t">
            <a:normAutofit/>
          </a:bodyPr>
          <a:lstStyle/>
          <a:p>
            <a:r>
              <a:rPr lang="en-US"/>
              <a:t>Designing Reusable Pipeline Components</a:t>
            </a:r>
          </a:p>
        </p:txBody>
      </p:sp>
      <p:sp>
        <p:nvSpPr>
          <p:cNvPr id="3" name="Footer Placeholder 2">
            <a:extLst>
              <a:ext uri="{FF2B5EF4-FFF2-40B4-BE49-F238E27FC236}">
                <a16:creationId xmlns:a16="http://schemas.microsoft.com/office/drawing/2014/main" id="{FC3B46A5-E796-6E59-0A3A-1AF9CBA18CBD}"/>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B2278634-4201-2CE1-B394-FD09641600EA}"/>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E6ED5288-697F-C3B9-EAB7-E8DFABD5FC94}"/>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C780654E-85D0-4E2F-AB2A-CE0863732D94}"/>
              </a:ext>
            </a:extLst>
          </p:cNvPr>
          <p:cNvPicPr>
            <a:picLocks noGrp="1" noChangeAspect="1"/>
          </p:cNvPicPr>
          <p:nvPr>
            <p:ph type="pic" sz="quarter" idx="13"/>
          </p:nvPr>
        </p:nvPicPr>
        <p:blipFill>
          <a:blip r:embed="rId3"/>
          <a:srcRect l="38139" r="30165" b="-1"/>
          <a:stretch>
            <a:fillRect/>
          </a:stretch>
        </p:blipFill>
        <p:spPr>
          <a:xfrm>
            <a:off x="598328" y="10"/>
            <a:ext cx="3256513" cy="6857990"/>
          </a:xfrm>
        </p:spPr>
      </p:pic>
      <p:sp>
        <p:nvSpPr>
          <p:cNvPr id="7" name="Content Placeholder 6">
            <a:extLst>
              <a:ext uri="{FF2B5EF4-FFF2-40B4-BE49-F238E27FC236}">
                <a16:creationId xmlns:a16="http://schemas.microsoft.com/office/drawing/2014/main" id="{F183A1B2-F86F-ACFE-219C-AB2E953BD8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Modular Pipeline Design</a:t>
            </a:r>
          </a:p>
          <a:p>
            <a:pPr marL="0" lvl="1" indent="0">
              <a:lnSpc>
                <a:spcPct val="110000"/>
              </a:lnSpc>
              <a:buFont typeface="Arial" panose="020B0604020202020204" pitchFamily="34" charset="0"/>
              <a:buNone/>
            </a:pPr>
            <a:r>
              <a:t>Extract, transform, and load functions are separated into modules for reuse across workflows.</a:t>
            </a:r>
            <a:endParaRPr lang="en-US"/>
          </a:p>
          <a:p>
            <a:pPr marL="0" indent="0">
              <a:lnSpc>
                <a:spcPct val="110000"/>
              </a:lnSpc>
              <a:spcBef>
                <a:spcPts val="2500"/>
              </a:spcBef>
              <a:buFont typeface="Arial" panose="020B0604020202020204" pitchFamily="34" charset="0"/>
              <a:buNone/>
            </a:pPr>
            <a:r>
              <a:rPr lang="en-US" b="1"/>
              <a:t>Configuration Driven Flexibility</a:t>
            </a:r>
          </a:p>
          <a:p>
            <a:pPr marL="0" lvl="1" indent="0">
              <a:lnSpc>
                <a:spcPct val="110000"/>
              </a:lnSpc>
              <a:buFont typeface="Arial" panose="020B0604020202020204" pitchFamily="34" charset="0"/>
              <a:buNone/>
            </a:pPr>
            <a:r>
              <a:t>Simple configuration files enable pipeline adjustments without modifying code, reducing errors.</a:t>
            </a:r>
            <a:endParaRPr lang="en-US"/>
          </a:p>
          <a:p>
            <a:pPr marL="0" indent="0">
              <a:lnSpc>
                <a:spcPct val="110000"/>
              </a:lnSpc>
              <a:spcBef>
                <a:spcPts val="2500"/>
              </a:spcBef>
              <a:buFont typeface="Arial" panose="020B0604020202020204" pitchFamily="34" charset="0"/>
              <a:buNone/>
            </a:pPr>
            <a:r>
              <a:rPr lang="en-US" b="1"/>
              <a:t>Easy Upgrades and Adaptation</a:t>
            </a:r>
          </a:p>
          <a:p>
            <a:pPr marL="0" lvl="1" indent="0">
              <a:lnSpc>
                <a:spcPct val="110000"/>
              </a:lnSpc>
              <a:buFont typeface="Arial" panose="020B0604020202020204" pitchFamily="34" charset="0"/>
              <a:buNone/>
            </a:pPr>
            <a:r>
              <a:t>Designing components for easy replacement supports quick adaptation to new data sources and validations.</a:t>
            </a:r>
            <a:endParaRPr lang="en-US"/>
          </a:p>
          <a:p>
            <a:pPr marL="0" indent="0">
              <a:lnSpc>
                <a:spcPct val="110000"/>
              </a:lnSpc>
              <a:spcBef>
                <a:spcPts val="2500"/>
              </a:spcBef>
              <a:buFont typeface="Arial" panose="020B0604020202020204" pitchFamily="34" charset="0"/>
              <a:buNone/>
            </a:pPr>
            <a:r>
              <a:rPr lang="en-US" b="1"/>
              <a:t>Consistency and Scalability</a:t>
            </a:r>
          </a:p>
          <a:p>
            <a:pPr marL="0" lvl="1" indent="0">
              <a:lnSpc>
                <a:spcPct val="110000"/>
              </a:lnSpc>
              <a:buFont typeface="Arial" panose="020B0604020202020204" pitchFamily="34" charset="0"/>
              <a:buNone/>
            </a:pPr>
            <a:r>
              <a:t>Reusable components improve pipeline reliability, ease onboarding, and reduce technical debt over time.</a:t>
            </a:r>
            <a:endParaRPr lang="en-US"/>
          </a:p>
        </p:txBody>
      </p:sp>
    </p:spTree>
    <p:extLst>
      <p:ext uri="{BB962C8B-B14F-4D97-AF65-F5344CB8AC3E}">
        <p14:creationId xmlns:p14="http://schemas.microsoft.com/office/powerpoint/2010/main" val="1521534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File folder big data internet network cloud computing">
            <a:extLst>
              <a:ext uri="{FF2B5EF4-FFF2-40B4-BE49-F238E27FC236}">
                <a16:creationId xmlns:a16="http://schemas.microsoft.com/office/drawing/2014/main" id="{6A70E677-1674-4E34-809E-75CE2B337031}"/>
              </a:ext>
            </a:extLst>
          </p:cNvPr>
          <p:cNvPicPr>
            <a:picLocks noGrp="1" noChangeAspect="1"/>
          </p:cNvPicPr>
          <p:nvPr>
            <p:ph type="pic" sz="quarter" idx="13"/>
          </p:nvPr>
        </p:nvPicPr>
        <p:blipFill>
          <a:blip r:embed="rId3"/>
          <a:srcRect l="13863" r="13968" b="3"/>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4CD06BDE-5364-9BB8-9A9F-D9F113048B6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0E93827-19E1-F67B-909F-62AC39010AAC}"/>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C29BA300-04DF-2143-BBEE-7960AD32569B}"/>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
        <p:nvSpPr>
          <p:cNvPr id="2" name="Title 1">
            <a:extLst>
              <a:ext uri="{FF2B5EF4-FFF2-40B4-BE49-F238E27FC236}">
                <a16:creationId xmlns:a16="http://schemas.microsoft.com/office/drawing/2014/main" id="{F1ED6FFF-8762-33FB-DD68-C0789E0A5009}"/>
              </a:ext>
            </a:extLst>
          </p:cNvPr>
          <p:cNvSpPr>
            <a:spLocks noGrp="1"/>
          </p:cNvSpPr>
          <p:nvPr>
            <p:ph type="title"/>
          </p:nvPr>
        </p:nvSpPr>
        <p:spPr>
          <a:xfrm>
            <a:off x="612647" y="634999"/>
            <a:ext cx="4672584" cy="1269482"/>
          </a:xfrm>
        </p:spPr>
        <p:txBody>
          <a:bodyPr anchor="t">
            <a:normAutofit/>
          </a:bodyPr>
          <a:lstStyle/>
          <a:p>
            <a:r>
              <a:rPr lang="en-US" sz="3300"/>
              <a:t>Pipeline-Oriented Folder Structures</a:t>
            </a:r>
          </a:p>
        </p:txBody>
      </p:sp>
      <p:sp>
        <p:nvSpPr>
          <p:cNvPr id="7" name="Content Placeholder 6">
            <a:extLst>
              <a:ext uri="{FF2B5EF4-FFF2-40B4-BE49-F238E27FC236}">
                <a16:creationId xmlns:a16="http://schemas.microsoft.com/office/drawing/2014/main" id="{D232D7EE-6B74-16D0-A8C8-3B06FD3670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Dedicated Folders for Pipeline Stages</a:t>
            </a:r>
          </a:p>
          <a:p>
            <a:pPr marL="0" lvl="1" indent="0">
              <a:buFont typeface="Arial" panose="020B0604020202020204" pitchFamily="34" charset="0"/>
              <a:buNone/>
            </a:pPr>
            <a:r>
              <a:t>Separate folders for extract, transform, and load logic help developers quickly locate pipeline components.</a:t>
            </a:r>
            <a:endParaRPr lang="en-US"/>
          </a:p>
          <a:p>
            <a:pPr marL="0" indent="0">
              <a:spcBef>
                <a:spcPts val="2500"/>
              </a:spcBef>
              <a:buFont typeface="Arial" panose="020B0604020202020204" pitchFamily="34" charset="0"/>
              <a:buNone/>
            </a:pPr>
            <a:r>
              <a:rPr lang="en-US" b="1"/>
              <a:t>Configuration File Organization</a:t>
            </a:r>
          </a:p>
          <a:p>
            <a:pPr marL="0" lvl="1" indent="0">
              <a:buFont typeface="Arial" panose="020B0604020202020204" pitchFamily="34" charset="0"/>
              <a:buNone/>
            </a:pPr>
            <a:r>
              <a:t>Storing configuration files in their own folder keeps environment-specific settings organized and easy to update.</a:t>
            </a:r>
            <a:endParaRPr lang="en-US"/>
          </a:p>
          <a:p>
            <a:pPr marL="0" indent="0">
              <a:spcBef>
                <a:spcPts val="2500"/>
              </a:spcBef>
              <a:buFont typeface="Arial" panose="020B0604020202020204" pitchFamily="34" charset="0"/>
              <a:buNone/>
            </a:pPr>
            <a:r>
              <a:rPr lang="en-US" b="1"/>
              <a:t>Log Management</a:t>
            </a:r>
          </a:p>
          <a:p>
            <a:pPr marL="0" lvl="1" indent="0">
              <a:buFont typeface="Arial" panose="020B0604020202020204" pitchFamily="34" charset="0"/>
              <a:buNone/>
            </a:pPr>
            <a:r>
              <a:t>A dedicated folder for logs facilitates system behavior tracking and efficient debugging processes.</a:t>
            </a:r>
            <a:endParaRPr lang="en-US"/>
          </a:p>
          <a:p>
            <a:pPr marL="0" indent="0">
              <a:spcBef>
                <a:spcPts val="2500"/>
              </a:spcBef>
              <a:buFont typeface="Arial" panose="020B0604020202020204" pitchFamily="34" charset="0"/>
              <a:buNone/>
            </a:pPr>
            <a:r>
              <a:rPr lang="en-US" b="1"/>
              <a:t>Orchestration Script Separation</a:t>
            </a:r>
          </a:p>
          <a:p>
            <a:pPr marL="0" lvl="1" indent="0">
              <a:buFont typeface="Arial" panose="020B0604020202020204" pitchFamily="34" charset="0"/>
              <a:buNone/>
            </a:pPr>
            <a:r>
              <a:t>Logical structure for orchestration scripts separates workflow configuration from business logic to reduce confusion.</a:t>
            </a:r>
            <a:endParaRPr lang="en-US"/>
          </a:p>
        </p:txBody>
      </p:sp>
    </p:spTree>
    <p:extLst>
      <p:ext uri="{BB962C8B-B14F-4D97-AF65-F5344CB8AC3E}">
        <p14:creationId xmlns:p14="http://schemas.microsoft.com/office/powerpoint/2010/main" val="30607340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Open notebook with drawn charts">
            <a:extLst>
              <a:ext uri="{FF2B5EF4-FFF2-40B4-BE49-F238E27FC236}">
                <a16:creationId xmlns:a16="http://schemas.microsoft.com/office/drawing/2014/main" id="{D74942D4-9658-41AD-9455-AB3CF23D69EA}"/>
              </a:ext>
            </a:extLst>
          </p:cNvPr>
          <p:cNvPicPr>
            <a:picLocks noGrp="1" noChangeAspect="1"/>
          </p:cNvPicPr>
          <p:nvPr>
            <p:ph type="pic" sz="quarter" idx="13"/>
          </p:nvPr>
        </p:nvPicPr>
        <p:blipFill>
          <a:blip r:embed="rId3"/>
          <a:stretch/>
        </p:blipFill>
        <p:spPr>
          <a:xfrm>
            <a:off x="609600" y="2485969"/>
            <a:ext cx="4675632" cy="3424901"/>
          </a:xfrm>
        </p:spPr>
      </p:pic>
      <p:sp>
        <p:nvSpPr>
          <p:cNvPr id="3" name="Footer Placeholder 2">
            <a:extLst>
              <a:ext uri="{FF2B5EF4-FFF2-40B4-BE49-F238E27FC236}">
                <a16:creationId xmlns:a16="http://schemas.microsoft.com/office/drawing/2014/main" id="{E4109D24-814C-C032-3F8A-ED216172A656}"/>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B1F11D59-C955-8F31-4DD1-9B05F7FBD701}"/>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818044F4-265F-3D1F-2C69-9729791F0048}"/>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
        <p:nvSpPr>
          <p:cNvPr id="2" name="Title 1">
            <a:extLst>
              <a:ext uri="{FF2B5EF4-FFF2-40B4-BE49-F238E27FC236}">
                <a16:creationId xmlns:a16="http://schemas.microsoft.com/office/drawing/2014/main" id="{C7FDA9A4-D224-E7AD-CEA1-566E572A5C1F}"/>
              </a:ext>
            </a:extLst>
          </p:cNvPr>
          <p:cNvSpPr>
            <a:spLocks noGrp="1"/>
          </p:cNvSpPr>
          <p:nvPr>
            <p:ph type="title"/>
          </p:nvPr>
        </p:nvSpPr>
        <p:spPr>
          <a:xfrm>
            <a:off x="612647" y="634999"/>
            <a:ext cx="4672584" cy="1269482"/>
          </a:xfrm>
        </p:spPr>
        <p:txBody>
          <a:bodyPr anchor="t">
            <a:normAutofit/>
          </a:bodyPr>
          <a:lstStyle/>
          <a:p>
            <a:r>
              <a:rPr lang="en-US"/>
              <a:t>Orchestration Concepts</a:t>
            </a:r>
          </a:p>
        </p:txBody>
      </p:sp>
      <p:sp>
        <p:nvSpPr>
          <p:cNvPr id="7" name="Content Placeholder 6">
            <a:extLst>
              <a:ext uri="{FF2B5EF4-FFF2-40B4-BE49-F238E27FC236}">
                <a16:creationId xmlns:a16="http://schemas.microsoft.com/office/drawing/2014/main" id="{3F8061F6-8A59-0087-9171-D875ED4E27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Task Dependency Management</a:t>
            </a:r>
          </a:p>
          <a:p>
            <a:pPr marL="0" lvl="1" indent="0">
              <a:buFont typeface="Arial" panose="020B0604020202020204" pitchFamily="34" charset="0"/>
              <a:buNone/>
            </a:pPr>
            <a:r>
              <a:t>Orchestration enforces the correct order of pipeline tasks based on dependencies and data availability.</a:t>
            </a:r>
            <a:endParaRPr lang="en-US"/>
          </a:p>
          <a:p>
            <a:pPr marL="0" indent="0">
              <a:spcBef>
                <a:spcPts val="2500"/>
              </a:spcBef>
              <a:buFont typeface="Arial" panose="020B0604020202020204" pitchFamily="34" charset="0"/>
              <a:buNone/>
            </a:pPr>
            <a:r>
              <a:rPr lang="en-US" b="1"/>
              <a:t>Retry and Failure Handling</a:t>
            </a:r>
          </a:p>
          <a:p>
            <a:pPr marL="0" lvl="1" indent="0">
              <a:buFont typeface="Arial" panose="020B0604020202020204" pitchFamily="34" charset="0"/>
              <a:buNone/>
            </a:pPr>
            <a:r>
              <a:t>Retry strategies enable automatic handling of failures, improving pipeline resilience during external system errors.</a:t>
            </a:r>
            <a:endParaRPr lang="en-US"/>
          </a:p>
          <a:p>
            <a:pPr marL="0" indent="0">
              <a:spcBef>
                <a:spcPts val="2500"/>
              </a:spcBef>
              <a:buFont typeface="Arial" panose="020B0604020202020204" pitchFamily="34" charset="0"/>
              <a:buNone/>
            </a:pPr>
            <a:r>
              <a:rPr lang="en-US" b="1"/>
              <a:t>Parallel Task Execution</a:t>
            </a:r>
          </a:p>
          <a:p>
            <a:pPr marL="0" lvl="1" indent="0">
              <a:buFont typeface="Arial" panose="020B0604020202020204" pitchFamily="34" charset="0"/>
              <a:buNone/>
            </a:pPr>
            <a:r>
              <a:t>Running tasks in parallel enhances performance by executing multiple steps simultaneously when dependencies allow.</a:t>
            </a:r>
            <a:endParaRPr lang="en-US"/>
          </a:p>
          <a:p>
            <a:pPr marL="0" indent="0">
              <a:spcBef>
                <a:spcPts val="2500"/>
              </a:spcBef>
              <a:buFont typeface="Arial" panose="020B0604020202020204" pitchFamily="34" charset="0"/>
              <a:buNone/>
            </a:pPr>
            <a:r>
              <a:rPr lang="en-US" b="1"/>
              <a:t>Dependability and Visibility</a:t>
            </a:r>
          </a:p>
          <a:p>
            <a:pPr marL="0" lvl="1" indent="0">
              <a:buFont typeface="Arial" panose="020B0604020202020204" pitchFamily="34" charset="0"/>
              <a:buNone/>
            </a:pPr>
            <a:r>
              <a:t>Orchestration ensures pipelines are dependable, scalable, and visible, enabling quick failure recovery and monitoring.</a:t>
            </a:r>
            <a:endParaRPr lang="en-US"/>
          </a:p>
        </p:txBody>
      </p:sp>
    </p:spTree>
    <p:extLst>
      <p:ext uri="{BB962C8B-B14F-4D97-AF65-F5344CB8AC3E}">
        <p14:creationId xmlns:p14="http://schemas.microsoft.com/office/powerpoint/2010/main" val="2871559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8BB37EE-E8F1-4874-BEF6-388E99087DCF}"/>
              </a:ext>
            </a:extLst>
          </p:cNvPr>
          <p:cNvPicPr>
            <a:picLocks noGrp="1" noChangeAspect="1"/>
          </p:cNvPicPr>
          <p:nvPr>
            <p:ph type="pic" sz="quarter" idx="13"/>
          </p:nvPr>
        </p:nvPicPr>
        <p:blipFill>
          <a:blip r:embed="rId3"/>
          <a:srcRect l="16418" r="22669"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F45F3FCC-7775-3E32-8BF7-4A9DB30993E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1E30CA7D-6C0C-5965-0F70-50303B730A90}"/>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8F1B05CE-AED8-029D-9ACD-6817DC49C6E9}"/>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
        <p:nvSpPr>
          <p:cNvPr id="2" name="Title 1">
            <a:extLst>
              <a:ext uri="{FF2B5EF4-FFF2-40B4-BE49-F238E27FC236}">
                <a16:creationId xmlns:a16="http://schemas.microsoft.com/office/drawing/2014/main" id="{272E71AC-A04A-21A7-5E8B-C7F2B5F9A5EA}"/>
              </a:ext>
            </a:extLst>
          </p:cNvPr>
          <p:cNvSpPr>
            <a:spLocks noGrp="1"/>
          </p:cNvSpPr>
          <p:nvPr>
            <p:ph type="title"/>
          </p:nvPr>
        </p:nvSpPr>
        <p:spPr>
          <a:xfrm>
            <a:off x="612647" y="634999"/>
            <a:ext cx="4672584" cy="1269482"/>
          </a:xfrm>
        </p:spPr>
        <p:txBody>
          <a:bodyPr anchor="t">
            <a:normAutofit/>
          </a:bodyPr>
          <a:lstStyle/>
          <a:p>
            <a:r>
              <a:rPr lang="en-US"/>
              <a:t>Apache Airflow</a:t>
            </a:r>
          </a:p>
        </p:txBody>
      </p:sp>
      <p:sp>
        <p:nvSpPr>
          <p:cNvPr id="7" name="Content Placeholder 6">
            <a:extLst>
              <a:ext uri="{FF2B5EF4-FFF2-40B4-BE49-F238E27FC236}">
                <a16:creationId xmlns:a16="http://schemas.microsoft.com/office/drawing/2014/main" id="{7BF1B5CB-633E-EE19-4F89-EB6ED5F3C3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Workflow Visualization with DAGs</a:t>
            </a:r>
          </a:p>
          <a:p>
            <a:pPr marL="0" lvl="1" indent="0">
              <a:buFont typeface="Arial" panose="020B0604020202020204" pitchFamily="34" charset="0"/>
              <a:buNone/>
            </a:pPr>
            <a:r>
              <a:t>Airflow uses Directed Acyclic Graphs to clearly visualize the sequence and dependencies of tasks in workflows.</a:t>
            </a:r>
            <a:endParaRPr lang="en-US"/>
          </a:p>
          <a:p>
            <a:pPr marL="0" indent="0">
              <a:spcBef>
                <a:spcPts val="2500"/>
              </a:spcBef>
              <a:buFont typeface="Arial" panose="020B0604020202020204" pitchFamily="34" charset="0"/>
              <a:buNone/>
            </a:pPr>
            <a:r>
              <a:rPr lang="en-US" b="1"/>
              <a:t>Built-in Operators and Extensibility</a:t>
            </a:r>
          </a:p>
          <a:p>
            <a:pPr marL="0" lvl="1" indent="0">
              <a:buFont typeface="Arial" panose="020B0604020202020204" pitchFamily="34" charset="0"/>
              <a:buNone/>
            </a:pPr>
            <a:r>
              <a:t>Airflow offers many built-in operators and supports extensions for connecting to diverse systems with minimal code.</a:t>
            </a:r>
            <a:endParaRPr lang="en-US"/>
          </a:p>
          <a:p>
            <a:pPr marL="0" indent="0">
              <a:spcBef>
                <a:spcPts val="2500"/>
              </a:spcBef>
              <a:buFont typeface="Arial" panose="020B0604020202020204" pitchFamily="34" charset="0"/>
              <a:buNone/>
            </a:pPr>
            <a:r>
              <a:rPr lang="en-US" b="1"/>
              <a:t>Monitoring and Management Interface</a:t>
            </a:r>
          </a:p>
          <a:p>
            <a:pPr marL="0" lvl="1" indent="0">
              <a:buFont typeface="Arial" panose="020B0604020202020204" pitchFamily="34" charset="0"/>
              <a:buNone/>
            </a:pPr>
            <a:r>
              <a:t>Its web interface provides real-time monitoring including logs, task history, and job status.</a:t>
            </a:r>
            <a:endParaRPr lang="en-US"/>
          </a:p>
          <a:p>
            <a:pPr marL="0" indent="0">
              <a:spcBef>
                <a:spcPts val="2500"/>
              </a:spcBef>
              <a:buFont typeface="Arial" panose="020B0604020202020204" pitchFamily="34" charset="0"/>
              <a:buNone/>
            </a:pPr>
            <a:r>
              <a:rPr lang="en-US" b="1"/>
              <a:t>Modular and Scalable Design</a:t>
            </a:r>
          </a:p>
          <a:p>
            <a:pPr marL="0" lvl="1" indent="0">
              <a:buFont typeface="Arial" panose="020B0604020202020204" pitchFamily="34" charset="0"/>
              <a:buNone/>
            </a:pPr>
            <a:r>
              <a:t>Airflow’s modular architecture allows flexible, reliable workflows that scale with growing data needs.</a:t>
            </a:r>
            <a:endParaRPr lang="en-US"/>
          </a:p>
        </p:txBody>
      </p:sp>
    </p:spTree>
    <p:extLst>
      <p:ext uri="{BB962C8B-B14F-4D97-AF65-F5344CB8AC3E}">
        <p14:creationId xmlns:p14="http://schemas.microsoft.com/office/powerpoint/2010/main" val="2399288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loud computing concept isolated on white background">
            <a:extLst>
              <a:ext uri="{FF2B5EF4-FFF2-40B4-BE49-F238E27FC236}">
                <a16:creationId xmlns:a16="http://schemas.microsoft.com/office/drawing/2014/main" id="{4F941914-9D2D-44AD-84D2-7764DF0CC444}"/>
              </a:ext>
            </a:extLst>
          </p:cNvPr>
          <p:cNvPicPr>
            <a:picLocks noGrp="1" noChangeAspect="1"/>
          </p:cNvPicPr>
          <p:nvPr>
            <p:ph type="pic" sz="quarter" idx="13"/>
          </p:nvPr>
        </p:nvPicPr>
        <p:blipFill>
          <a:blip r:embed="rId3"/>
          <a:stretch/>
        </p:blipFill>
        <p:spPr>
          <a:xfrm>
            <a:off x="609600" y="2445057"/>
            <a:ext cx="4675632" cy="3506724"/>
          </a:xfrm>
        </p:spPr>
      </p:pic>
      <p:sp>
        <p:nvSpPr>
          <p:cNvPr id="3" name="Footer Placeholder 2">
            <a:extLst>
              <a:ext uri="{FF2B5EF4-FFF2-40B4-BE49-F238E27FC236}">
                <a16:creationId xmlns:a16="http://schemas.microsoft.com/office/drawing/2014/main" id="{8EE11607-4BED-71E9-26C7-007B97D5B0DB}"/>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FB6AC8B-38CA-DE7A-146C-BD6928DB6C44}"/>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DED3F321-E490-C38F-45C2-0118F8F3B526}"/>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
        <p:nvSpPr>
          <p:cNvPr id="2" name="Title 1">
            <a:extLst>
              <a:ext uri="{FF2B5EF4-FFF2-40B4-BE49-F238E27FC236}">
                <a16:creationId xmlns:a16="http://schemas.microsoft.com/office/drawing/2014/main" id="{7C68BDDC-4BF8-DA88-4591-E799E13F05CB}"/>
              </a:ext>
            </a:extLst>
          </p:cNvPr>
          <p:cNvSpPr>
            <a:spLocks noGrp="1"/>
          </p:cNvSpPr>
          <p:nvPr>
            <p:ph type="title"/>
          </p:nvPr>
        </p:nvSpPr>
        <p:spPr>
          <a:xfrm>
            <a:off x="612647" y="634999"/>
            <a:ext cx="4672584" cy="1269482"/>
          </a:xfrm>
        </p:spPr>
        <p:txBody>
          <a:bodyPr anchor="t">
            <a:normAutofit/>
          </a:bodyPr>
          <a:lstStyle/>
          <a:p>
            <a:r>
              <a:rPr lang="en-US"/>
              <a:t>Cloud Composer</a:t>
            </a:r>
          </a:p>
        </p:txBody>
      </p:sp>
      <p:sp>
        <p:nvSpPr>
          <p:cNvPr id="7" name="Content Placeholder 6">
            <a:extLst>
              <a:ext uri="{FF2B5EF4-FFF2-40B4-BE49-F238E27FC236}">
                <a16:creationId xmlns:a16="http://schemas.microsoft.com/office/drawing/2014/main" id="{530D7E85-0570-EDB1-62A2-53FAA4589E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Managed Infrastructure</a:t>
            </a:r>
          </a:p>
          <a:p>
            <a:pPr marL="0" lvl="1" indent="0">
              <a:buFont typeface="Arial" panose="020B0604020202020204" pitchFamily="34" charset="0"/>
              <a:buNone/>
            </a:pPr>
            <a:r>
              <a:t>Cloud Composer automates upgrades, scaling, and maintenance, removing the need for manual infrastructure management.</a:t>
            </a:r>
            <a:endParaRPr lang="en-US"/>
          </a:p>
          <a:p>
            <a:pPr marL="0" indent="0">
              <a:spcBef>
                <a:spcPts val="2500"/>
              </a:spcBef>
              <a:buFont typeface="Arial" panose="020B0604020202020204" pitchFamily="34" charset="0"/>
              <a:buNone/>
            </a:pPr>
            <a:r>
              <a:rPr lang="en-US" b="1"/>
              <a:t>Seamless Service Integration</a:t>
            </a:r>
          </a:p>
          <a:p>
            <a:pPr marL="0" lvl="1" indent="0">
              <a:buFont typeface="Arial" panose="020B0604020202020204" pitchFamily="34" charset="0"/>
              <a:buNone/>
            </a:pPr>
            <a:r>
              <a:t>Composer integrates easily with services like BigQuery, Cloud Storage, and Pub/Sub for streamlined data workflows.</a:t>
            </a:r>
            <a:endParaRPr lang="en-US"/>
          </a:p>
          <a:p>
            <a:pPr marL="0" indent="0">
              <a:spcBef>
                <a:spcPts val="2500"/>
              </a:spcBef>
              <a:buFont typeface="Arial" panose="020B0604020202020204" pitchFamily="34" charset="0"/>
              <a:buNone/>
            </a:pPr>
            <a:r>
              <a:rPr lang="en-US" b="1"/>
              <a:t>Autoscaling for Performance</a:t>
            </a:r>
          </a:p>
          <a:p>
            <a:pPr marL="0" lvl="1" indent="0">
              <a:buFont typeface="Arial" panose="020B0604020202020204" pitchFamily="34" charset="0"/>
              <a:buNone/>
            </a:pPr>
            <a:r>
              <a:t>Autoscaling dynamically balances workloads to enhance performance for large data pipelines.</a:t>
            </a:r>
            <a:endParaRPr lang="en-US"/>
          </a:p>
          <a:p>
            <a:pPr marL="0" indent="0">
              <a:spcBef>
                <a:spcPts val="2500"/>
              </a:spcBef>
              <a:buFont typeface="Arial" panose="020B0604020202020204" pitchFamily="34" charset="0"/>
              <a:buNone/>
            </a:pPr>
            <a:r>
              <a:rPr lang="en-US" b="1"/>
              <a:t>Centralized Monitoring</a:t>
            </a:r>
          </a:p>
          <a:p>
            <a:pPr marL="0" lvl="1" indent="0">
              <a:buFont typeface="Arial" panose="020B0604020202020204" pitchFamily="34" charset="0"/>
              <a:buNone/>
            </a:pPr>
            <a:r>
              <a:t>Centralized logging and monitoring allow teams to easily track system behavior and troubleshoot issues.</a:t>
            </a:r>
            <a:endParaRPr lang="en-US"/>
          </a:p>
        </p:txBody>
      </p:sp>
    </p:spTree>
    <p:extLst>
      <p:ext uri="{BB962C8B-B14F-4D97-AF65-F5344CB8AC3E}">
        <p14:creationId xmlns:p14="http://schemas.microsoft.com/office/powerpoint/2010/main" val="1503054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3AB1-3445-F4AE-03CF-E12AC80C0C68}"/>
              </a:ext>
            </a:extLst>
          </p:cNvPr>
          <p:cNvSpPr>
            <a:spLocks noGrp="1"/>
          </p:cNvSpPr>
          <p:nvPr>
            <p:ph type="title"/>
          </p:nvPr>
        </p:nvSpPr>
        <p:spPr>
          <a:xfrm>
            <a:off x="612646" y="634991"/>
            <a:ext cx="11323505" cy="755659"/>
          </a:xfrm>
        </p:spPr>
        <p:txBody>
          <a:bodyPr anchor="t">
            <a:normAutofit/>
          </a:bodyPr>
          <a:lstStyle/>
          <a:p>
            <a:r>
              <a:rPr lang="en-US"/>
              <a:t>Logging, Monitoring &amp; Error Handling</a:t>
            </a:r>
          </a:p>
        </p:txBody>
      </p:sp>
      <p:sp>
        <p:nvSpPr>
          <p:cNvPr id="3" name="Footer Placeholder 2">
            <a:extLst>
              <a:ext uri="{FF2B5EF4-FFF2-40B4-BE49-F238E27FC236}">
                <a16:creationId xmlns:a16="http://schemas.microsoft.com/office/drawing/2014/main" id="{0FAE869A-8C9E-EBDD-4017-3056FB0E1FC5}"/>
              </a:ext>
            </a:extLst>
          </p:cNvPr>
          <p:cNvSpPr>
            <a:spLocks noGrp="1"/>
          </p:cNvSpPr>
          <p:nvPr>
            <p:ph type="ftr" sz="quarter" idx="11"/>
          </p:nvPr>
        </p:nvSpPr>
        <p:spPr>
          <a:xfrm rot="16200000">
            <a:off x="-2067304" y="224196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2D0B1997-0BF1-E552-D381-F41CF6B781B3}"/>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2/13/2026</a:t>
            </a:fld>
            <a:endParaRPr lang="en-US"/>
          </a:p>
        </p:txBody>
      </p:sp>
      <p:sp>
        <p:nvSpPr>
          <p:cNvPr id="5" name="Slide Number Placeholder 4">
            <a:extLst>
              <a:ext uri="{FF2B5EF4-FFF2-40B4-BE49-F238E27FC236}">
                <a16:creationId xmlns:a16="http://schemas.microsoft.com/office/drawing/2014/main" id="{069F71F8-31AE-FE39-A284-77EEA02CCAFC}"/>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graphicFrame>
        <p:nvGraphicFramePr>
          <p:cNvPr id="7" name="Content Placeholder 6">
            <a:extLst>
              <a:ext uri="{FF2B5EF4-FFF2-40B4-BE49-F238E27FC236}">
                <a16:creationId xmlns:a16="http://schemas.microsoft.com/office/drawing/2014/main" id="{23558917-DBDB-4BB1-BFA3-D063257D27F5}"/>
              </a:ext>
            </a:extLst>
          </p:cNvPr>
          <p:cNvGraphicFramePr>
            <a:graphicFrameLocks noGrp="1"/>
          </p:cNvGraphicFramePr>
          <p:nvPr>
            <p:ph idx="1"/>
            <p:extLst>
              <p:ext uri="{D42A27DB-BD31-4B8C-83A1-F6EECF244321}">
                <p14:modId xmlns:p14="http://schemas.microsoft.com/office/powerpoint/2010/main" val="290795815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6" y="1572050"/>
          <a:ext cx="11323505" cy="4920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5166913"/>
      </p:ext>
    </p:extLst>
  </p:cSld>
  <p:clrMapOvr>
    <a:masterClrMapping/>
  </p:clrMapOvr>
  <p:transition>
    <p:fade/>
  </p:transition>
</p:sld>
</file>

<file path=ppt/theme/theme1.xml><?xml version="1.0" encoding="utf-8"?>
<a:theme xmlns:a="http://schemas.openxmlformats.org/drawingml/2006/main" name="Japandi linear">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Japandi linear</vt:lpstr>
      <vt:lpstr>ETL / ELT Pipeline Basics</vt:lpstr>
      <vt:lpstr>ETL / ELT Pipeline Basics</vt:lpstr>
      <vt:lpstr>OOP for ETL / ELT Pipeline Design</vt:lpstr>
      <vt:lpstr>Designing Reusable Pipeline Components</vt:lpstr>
      <vt:lpstr>Pipeline-Oriented Folder Structures</vt:lpstr>
      <vt:lpstr>Orchestration Concepts</vt:lpstr>
      <vt:lpstr>Apache Airflow</vt:lpstr>
      <vt:lpstr>Cloud Composer</vt:lpstr>
      <vt:lpstr>Logging, Monitoring &amp; Error Handling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2026-02-13T08:28:42Z</dcterms:modified>
</cp:coreProperties>
</file>